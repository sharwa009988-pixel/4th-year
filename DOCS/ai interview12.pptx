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7"/>
  </p:notesMasterIdLst>
  <p:sldIdLst>
    <p:sldId id="256" r:id="rId2"/>
    <p:sldId id="279" r:id="rId3"/>
    <p:sldId id="257" r:id="rId4"/>
    <p:sldId id="259" r:id="rId5"/>
    <p:sldId id="262" r:id="rId6"/>
    <p:sldId id="263" r:id="rId7"/>
    <p:sldId id="258" r:id="rId8"/>
    <p:sldId id="292" r:id="rId9"/>
    <p:sldId id="291" r:id="rId10"/>
    <p:sldId id="264" r:id="rId11"/>
    <p:sldId id="266" r:id="rId12"/>
    <p:sldId id="269" r:id="rId13"/>
    <p:sldId id="268" r:id="rId14"/>
    <p:sldId id="290" r:id="rId15"/>
    <p:sldId id="299" r:id="rId16"/>
    <p:sldId id="274" r:id="rId17"/>
    <p:sldId id="297" r:id="rId18"/>
    <p:sldId id="288" r:id="rId19"/>
    <p:sldId id="289" r:id="rId20"/>
    <p:sldId id="298" r:id="rId21"/>
    <p:sldId id="295" r:id="rId22"/>
    <p:sldId id="275" r:id="rId23"/>
    <p:sldId id="276" r:id="rId24"/>
    <p:sldId id="277" r:id="rId25"/>
    <p:sldId id="27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8B5AE-F11F-454A-A058-D88E60AD87C0}"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EB08A-7614-4F8F-99E2-7BE9A0DC1DF6}" type="slidenum">
              <a:rPr lang="en-IN" smtClean="0"/>
              <a:t>‹#›</a:t>
            </a:fld>
            <a:endParaRPr lang="en-IN"/>
          </a:p>
        </p:txBody>
      </p:sp>
    </p:spTree>
    <p:extLst>
      <p:ext uri="{BB962C8B-B14F-4D97-AF65-F5344CB8AC3E}">
        <p14:creationId xmlns:p14="http://schemas.microsoft.com/office/powerpoint/2010/main" val="401074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DD478DF-BBB2-4F3A-814D-5305C4ED4841}" type="datetimeFigureOut">
              <a:rPr lang="en-IN" smtClean="0"/>
              <a:t>06-02-2026</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EF2457EB-A5FD-4744-A60A-59EF052019D9}"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4237644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D478DF-BBB2-4F3A-814D-5305C4ED4841}"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2457EB-A5FD-4744-A60A-59EF052019D9}" type="slidenum">
              <a:rPr lang="en-IN" smtClean="0"/>
              <a:t>‹#›</a:t>
            </a:fld>
            <a:endParaRPr lang="en-IN"/>
          </a:p>
        </p:txBody>
      </p:sp>
    </p:spTree>
    <p:extLst>
      <p:ext uri="{BB962C8B-B14F-4D97-AF65-F5344CB8AC3E}">
        <p14:creationId xmlns:p14="http://schemas.microsoft.com/office/powerpoint/2010/main" val="1011989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D478DF-BBB2-4F3A-814D-5305C4ED4841}"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2457EB-A5FD-4744-A60A-59EF052019D9}"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20644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D478DF-BBB2-4F3A-814D-5305C4ED4841}"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2457EB-A5FD-4744-A60A-59EF052019D9}" type="slidenum">
              <a:rPr lang="en-IN" smtClean="0"/>
              <a:t>‹#›</a:t>
            </a:fld>
            <a:endParaRPr lang="en-IN"/>
          </a:p>
        </p:txBody>
      </p:sp>
    </p:spTree>
    <p:extLst>
      <p:ext uri="{BB962C8B-B14F-4D97-AF65-F5344CB8AC3E}">
        <p14:creationId xmlns:p14="http://schemas.microsoft.com/office/powerpoint/2010/main" val="291388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D478DF-BBB2-4F3A-814D-5305C4ED4841}" type="datetimeFigureOut">
              <a:rPr lang="en-IN" smtClean="0"/>
              <a:t>06-02-2026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2457EB-A5FD-4744-A60A-59EF052019D9}" type="slidenum">
              <a:rPr lang="en-IN" smtClean="0"/>
              <a:t>‹#›</a:t>
            </a:fld>
            <a:endParaRPr lang="en-IN"/>
          </a:p>
        </p:txBody>
      </p:sp>
    </p:spTree>
    <p:extLst>
      <p:ext uri="{BB962C8B-B14F-4D97-AF65-F5344CB8AC3E}">
        <p14:creationId xmlns:p14="http://schemas.microsoft.com/office/powerpoint/2010/main" val="458338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D478DF-BBB2-4F3A-814D-5305C4ED4841}" type="datetimeFigureOut">
              <a:rPr lang="en-IN" smtClean="0"/>
              <a:t>06-02-2026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2457EB-A5FD-4744-A60A-59EF052019D9}" type="slidenum">
              <a:rPr lang="en-IN" smtClean="0"/>
              <a:t>‹#›</a:t>
            </a:fld>
            <a:endParaRPr lang="en-IN"/>
          </a:p>
        </p:txBody>
      </p:sp>
    </p:spTree>
    <p:extLst>
      <p:ext uri="{BB962C8B-B14F-4D97-AF65-F5344CB8AC3E}">
        <p14:creationId xmlns:p14="http://schemas.microsoft.com/office/powerpoint/2010/main" val="4253842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D478DF-BBB2-4F3A-814D-5305C4ED4841}" type="datetimeFigureOut">
              <a:rPr lang="en-IN" smtClean="0"/>
              <a:t>06-02-2026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2457EB-A5FD-4744-A60A-59EF052019D9}" type="slidenum">
              <a:rPr lang="en-IN" smtClean="0"/>
              <a:t>‹#›</a:t>
            </a:fld>
            <a:endParaRPr lang="en-IN"/>
          </a:p>
        </p:txBody>
      </p:sp>
    </p:spTree>
    <p:extLst>
      <p:ext uri="{BB962C8B-B14F-4D97-AF65-F5344CB8AC3E}">
        <p14:creationId xmlns:p14="http://schemas.microsoft.com/office/powerpoint/2010/main" val="4152931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D478DF-BBB2-4F3A-814D-5305C4ED4841}"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2457EB-A5FD-4744-A60A-59EF052019D9}" type="slidenum">
              <a:rPr lang="en-IN" smtClean="0"/>
              <a:t>‹#›</a:t>
            </a:fld>
            <a:endParaRPr lang="en-IN"/>
          </a:p>
        </p:txBody>
      </p:sp>
    </p:spTree>
    <p:extLst>
      <p:ext uri="{BB962C8B-B14F-4D97-AF65-F5344CB8AC3E}">
        <p14:creationId xmlns:p14="http://schemas.microsoft.com/office/powerpoint/2010/main" val="3912439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D478DF-BBB2-4F3A-814D-5305C4ED4841}"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2457EB-A5FD-4744-A60A-59EF052019D9}" type="slidenum">
              <a:rPr lang="en-IN" smtClean="0"/>
              <a:t>‹#›</a:t>
            </a:fld>
            <a:endParaRPr lang="en-IN"/>
          </a:p>
        </p:txBody>
      </p:sp>
    </p:spTree>
    <p:extLst>
      <p:ext uri="{BB962C8B-B14F-4D97-AF65-F5344CB8AC3E}">
        <p14:creationId xmlns:p14="http://schemas.microsoft.com/office/powerpoint/2010/main" val="4209317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D478DF-BBB2-4F3A-814D-5305C4ED4841}"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2457EB-A5FD-4744-A60A-59EF052019D9}" type="slidenum">
              <a:rPr lang="en-IN" smtClean="0"/>
              <a:t>‹#›</a:t>
            </a:fld>
            <a:endParaRPr lang="en-IN"/>
          </a:p>
        </p:txBody>
      </p:sp>
    </p:spTree>
    <p:extLst>
      <p:ext uri="{BB962C8B-B14F-4D97-AF65-F5344CB8AC3E}">
        <p14:creationId xmlns:p14="http://schemas.microsoft.com/office/powerpoint/2010/main" val="3612751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D478DF-BBB2-4F3A-814D-5305C4ED4841}"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2457EB-A5FD-4744-A60A-59EF052019D9}" type="slidenum">
              <a:rPr lang="en-IN" smtClean="0"/>
              <a:t>‹#›</a:t>
            </a:fld>
            <a:endParaRPr lang="en-IN"/>
          </a:p>
        </p:txBody>
      </p:sp>
    </p:spTree>
    <p:extLst>
      <p:ext uri="{BB962C8B-B14F-4D97-AF65-F5344CB8AC3E}">
        <p14:creationId xmlns:p14="http://schemas.microsoft.com/office/powerpoint/2010/main" val="804521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9DD478DF-BBB2-4F3A-814D-5305C4ED4841}" type="datetimeFigureOut">
              <a:rPr lang="en-IN" smtClean="0"/>
              <a:t>06-02-2026</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EF2457EB-A5FD-4744-A60A-59EF052019D9}" type="slidenum">
              <a:rPr lang="en-IN" smtClean="0"/>
              <a:t>‹#›</a:t>
            </a:fld>
            <a:endParaRPr lang="en-IN"/>
          </a:p>
        </p:txBody>
      </p:sp>
    </p:spTree>
    <p:extLst>
      <p:ext uri="{BB962C8B-B14F-4D97-AF65-F5344CB8AC3E}">
        <p14:creationId xmlns:p14="http://schemas.microsoft.com/office/powerpoint/2010/main" val="329117156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doi.org/10.1016/j.chb.2021.106855"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dx.doi.org/10.1136/leader-2023-000797" TargetMode="External"/><Relationship Id="rId2" Type="http://schemas.openxmlformats.org/officeDocument/2006/relationships/hyperlink" Target="http://dx.doi.org/10.3390/bdcc7010035" TargetMode="External"/><Relationship Id="rId1" Type="http://schemas.openxmlformats.org/officeDocument/2006/relationships/slideLayout" Target="../slideLayouts/slideLayout2.xml"/><Relationship Id="rId5" Type="http://schemas.openxmlformats.org/officeDocument/2006/relationships/hyperlink" Target="http://dx.doi.org/10.1145/3442694" TargetMode="External"/><Relationship Id="rId4" Type="http://schemas.openxmlformats.org/officeDocument/2006/relationships/hyperlink" Target="http://dx.doi.org/10.1155/2022/578258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2FD3-1C57-4F96-844D-1D1E0AF4A022}"/>
              </a:ext>
            </a:extLst>
          </p:cNvPr>
          <p:cNvSpPr>
            <a:spLocks noGrp="1"/>
          </p:cNvSpPr>
          <p:nvPr>
            <p:ph type="ctrTitle"/>
          </p:nvPr>
        </p:nvSpPr>
        <p:spPr>
          <a:xfrm>
            <a:off x="1553498" y="1366684"/>
            <a:ext cx="8780206" cy="2458064"/>
          </a:xfrm>
        </p:spPr>
        <p:txBody>
          <a:bodyPr>
            <a:noAutofit/>
          </a:bodyPr>
          <a:lstStyle/>
          <a:p>
            <a:pPr algn="ctr">
              <a:lnSpc>
                <a:spcPct val="150000"/>
              </a:lnSpc>
            </a:pPr>
            <a:r>
              <a:rPr lang="en-US" sz="3600" dirty="0"/>
              <a:t>AI-Powered Interview Preparation Portal with Code Execution Feature</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5053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048F-E97E-307C-EA91-3209A5672083}"/>
              </a:ext>
            </a:extLst>
          </p:cNvPr>
          <p:cNvSpPr>
            <a:spLocks noGrp="1"/>
          </p:cNvSpPr>
          <p:nvPr>
            <p:ph type="title"/>
          </p:nvPr>
        </p:nvSpPr>
        <p:spPr>
          <a:xfrm>
            <a:off x="650333" y="257606"/>
            <a:ext cx="4352347" cy="1050085"/>
          </a:xfrm>
        </p:spPr>
        <p:txBody>
          <a:bodyPr/>
          <a:lstStyle/>
          <a:p>
            <a:pPr>
              <a:lnSpc>
                <a:spcPct val="150000"/>
              </a:lnSpc>
            </a:pPr>
            <a:r>
              <a:rPr lang="en-US" sz="2400" b="1"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949BC6-314A-9C5D-E868-E9923909BE19}"/>
              </a:ext>
            </a:extLst>
          </p:cNvPr>
          <p:cNvSpPr>
            <a:spLocks noGrp="1"/>
          </p:cNvSpPr>
          <p:nvPr>
            <p:ph idx="1"/>
          </p:nvPr>
        </p:nvSpPr>
        <p:spPr>
          <a:xfrm>
            <a:off x="707923" y="1524000"/>
            <a:ext cx="4866967" cy="4925961"/>
          </a:xfrm>
        </p:spPr>
        <p:txBody>
          <a:bodyPr>
            <a:normAutofit fontScale="77500" lnSpcReduction="20000"/>
          </a:bodyPr>
          <a:lstStyle/>
          <a:p>
            <a:pPr algn="just">
              <a:lnSpc>
                <a:spcPct val="150000"/>
              </a:lnSpc>
            </a:pPr>
            <a:r>
              <a:rPr lang="en-US" sz="1600" dirty="0">
                <a:latin typeface="Times New Roman" panose="02020603050405020304" pitchFamily="18" charset="0"/>
                <a:cs typeface="Times New Roman" panose="02020603050405020304" pitchFamily="18" charset="0"/>
              </a:rPr>
              <a:t>ABSTRACT</a:t>
            </a:r>
          </a:p>
          <a:p>
            <a:pPr algn="just">
              <a:lnSpc>
                <a:spcPct val="150000"/>
              </a:lnSpc>
            </a:pPr>
            <a:r>
              <a:rPr lang="en-US" sz="1600" dirty="0">
                <a:latin typeface="Times New Roman" panose="02020603050405020304" pitchFamily="18" charset="0"/>
                <a:cs typeface="Times New Roman" panose="02020603050405020304" pitchFamily="18" charset="0"/>
              </a:rPr>
              <a:t>INTRODUCTION</a:t>
            </a:r>
          </a:p>
          <a:p>
            <a:pPr algn="just">
              <a:lnSpc>
                <a:spcPct val="150000"/>
              </a:lnSpc>
            </a:pPr>
            <a:r>
              <a:rPr lang="en-US" sz="1600" dirty="0">
                <a:latin typeface="Times New Roman" panose="02020603050405020304" pitchFamily="18" charset="0"/>
                <a:cs typeface="Times New Roman" panose="02020603050405020304" pitchFamily="18" charset="0"/>
              </a:rPr>
              <a:t>LITERATURE SURVEY</a:t>
            </a:r>
          </a:p>
          <a:p>
            <a:pPr algn="just">
              <a:lnSpc>
                <a:spcPct val="150000"/>
              </a:lnSpc>
            </a:pPr>
            <a:r>
              <a:rPr lang="en-US" sz="1600" dirty="0">
                <a:latin typeface="Times New Roman" panose="02020603050405020304" pitchFamily="18" charset="0"/>
                <a:cs typeface="Times New Roman" panose="02020603050405020304" pitchFamily="18" charset="0"/>
              </a:rPr>
              <a:t>ALGORITHMS</a:t>
            </a:r>
          </a:p>
          <a:p>
            <a:pPr algn="just">
              <a:lnSpc>
                <a:spcPct val="150000"/>
              </a:lnSpc>
            </a:pPr>
            <a:r>
              <a:rPr lang="en-US" sz="1600" dirty="0">
                <a:latin typeface="Times New Roman" panose="02020603050405020304" pitchFamily="18" charset="0"/>
                <a:cs typeface="Times New Roman" panose="02020603050405020304" pitchFamily="18" charset="0"/>
              </a:rPr>
              <a:t>OBJECTIVE</a:t>
            </a:r>
          </a:p>
          <a:p>
            <a:pPr algn="just">
              <a:lnSpc>
                <a:spcPct val="150000"/>
              </a:lnSpc>
            </a:pPr>
            <a:r>
              <a:rPr lang="en-US" sz="1600" dirty="0">
                <a:latin typeface="Times New Roman" panose="02020603050405020304" pitchFamily="18" charset="0"/>
                <a:cs typeface="Times New Roman" panose="02020603050405020304" pitchFamily="18" charset="0"/>
              </a:rPr>
              <a:t>EXISTING &amp; PROPOSED SYSTEM</a:t>
            </a:r>
          </a:p>
          <a:p>
            <a:pPr algn="just">
              <a:lnSpc>
                <a:spcPct val="150000"/>
              </a:lnSpc>
            </a:pPr>
            <a:r>
              <a:rPr lang="en-US" sz="1600" dirty="0">
                <a:latin typeface="Times New Roman" panose="02020603050405020304" pitchFamily="18" charset="0"/>
                <a:cs typeface="Times New Roman" panose="02020603050405020304" pitchFamily="18" charset="0"/>
              </a:rPr>
              <a:t>ARCHITECTURE</a:t>
            </a:r>
          </a:p>
          <a:p>
            <a:pPr algn="just">
              <a:lnSpc>
                <a:spcPct val="150000"/>
              </a:lnSpc>
            </a:pPr>
            <a:r>
              <a:rPr lang="en-US" sz="1600" dirty="0">
                <a:latin typeface="Times New Roman" panose="02020603050405020304" pitchFamily="18" charset="0"/>
                <a:cs typeface="Times New Roman" panose="02020603050405020304" pitchFamily="18" charset="0"/>
              </a:rPr>
              <a:t>FLOW CHARTS</a:t>
            </a:r>
          </a:p>
          <a:p>
            <a:pPr algn="just">
              <a:lnSpc>
                <a:spcPct val="150000"/>
              </a:lnSpc>
            </a:pPr>
            <a:r>
              <a:rPr lang="en-US" sz="1600" dirty="0">
                <a:latin typeface="Times New Roman" panose="02020603050405020304" pitchFamily="18" charset="0"/>
                <a:cs typeface="Times New Roman" panose="02020603050405020304" pitchFamily="18" charset="0"/>
              </a:rPr>
              <a:t>RESULTS/ ACCURACY ENHANCEMENTS</a:t>
            </a:r>
          </a:p>
          <a:p>
            <a:pPr algn="just">
              <a:lnSpc>
                <a:spcPct val="150000"/>
              </a:lnSpc>
            </a:pPr>
            <a:r>
              <a:rPr lang="en-US" sz="1600" dirty="0">
                <a:latin typeface="Times New Roman" panose="02020603050405020304" pitchFamily="18" charset="0"/>
                <a:cs typeface="Times New Roman" panose="02020603050405020304" pitchFamily="18" charset="0"/>
              </a:rPr>
              <a:t>CONCLUSION &amp; FUTURE SCOPE</a:t>
            </a:r>
          </a:p>
          <a:p>
            <a:pPr algn="just">
              <a:lnSpc>
                <a:spcPct val="150000"/>
              </a:lnSpc>
            </a:pPr>
            <a:r>
              <a:rPr lang="en-US" sz="1600" dirty="0">
                <a:latin typeface="Times New Roman" panose="02020603050405020304" pitchFamily="18" charset="0"/>
                <a:cs typeface="Times New Roman" panose="02020603050405020304" pitchFamily="18" charset="0"/>
              </a:rPr>
              <a:t>REFERENCES</a:t>
            </a:r>
          </a:p>
          <a:p>
            <a:endParaRPr lang="en-US" dirty="0"/>
          </a:p>
          <a:p>
            <a:endParaRPr lang="en-IN" dirty="0"/>
          </a:p>
        </p:txBody>
      </p:sp>
      <p:pic>
        <p:nvPicPr>
          <p:cNvPr id="5" name="Picture 4">
            <a:extLst>
              <a:ext uri="{FF2B5EF4-FFF2-40B4-BE49-F238E27FC236}">
                <a16:creationId xmlns:a16="http://schemas.microsoft.com/office/drawing/2014/main" id="{E67DE24A-21CB-671E-AA81-58C7DEBAD67C}"/>
              </a:ext>
            </a:extLst>
          </p:cNvPr>
          <p:cNvPicPr>
            <a:picLocks noChangeAspect="1"/>
          </p:cNvPicPr>
          <p:nvPr/>
        </p:nvPicPr>
        <p:blipFill>
          <a:blip r:embed="rId2"/>
          <a:stretch>
            <a:fillRect/>
          </a:stretch>
        </p:blipFill>
        <p:spPr>
          <a:xfrm>
            <a:off x="5780314" y="903854"/>
            <a:ext cx="4963886" cy="5050292"/>
          </a:xfrm>
          <a:prstGeom prst="rect">
            <a:avLst/>
          </a:prstGeom>
        </p:spPr>
      </p:pic>
    </p:spTree>
    <p:extLst>
      <p:ext uri="{BB962C8B-B14F-4D97-AF65-F5344CB8AC3E}">
        <p14:creationId xmlns:p14="http://schemas.microsoft.com/office/powerpoint/2010/main" val="1726934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892F-0C16-55E8-6B1C-08D6B57C2F9D}"/>
              </a:ext>
            </a:extLst>
          </p:cNvPr>
          <p:cNvSpPr>
            <a:spLocks noGrp="1"/>
          </p:cNvSpPr>
          <p:nvPr>
            <p:ph type="title"/>
          </p:nvPr>
        </p:nvSpPr>
        <p:spPr/>
        <p:txBody>
          <a:bodyPr/>
          <a:lstStyle/>
          <a:p>
            <a:pPr algn="ctr">
              <a:lnSpc>
                <a:spcPct val="150000"/>
              </a:lnSpc>
            </a:pPr>
            <a:r>
              <a:rPr lang="en-US" sz="28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F857C7-EE56-124A-98DF-7A7199FC8265}"/>
              </a:ext>
            </a:extLst>
          </p:cNvPr>
          <p:cNvSpPr>
            <a:spLocks noGrp="1"/>
          </p:cNvSpPr>
          <p:nvPr>
            <p:ph idx="1"/>
          </p:nvPr>
        </p:nvSpPr>
        <p:spPr>
          <a:xfrm>
            <a:off x="1141412" y="1769806"/>
            <a:ext cx="9905999" cy="4469676"/>
          </a:xfrm>
        </p:spPr>
        <p:txBody>
          <a:bodyPr>
            <a:normAutofit fontScale="92500" lnSpcReduction="20000"/>
          </a:bodyPr>
          <a:lstStyle/>
          <a:p>
            <a:pPr algn="just">
              <a:lnSpc>
                <a:spcPct val="150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increasing demand for efficient and personalized interview preparation solutions has driven the development of AI-based learning platforms. This project presents an AI-Powered Interview Preparation Portal integrated with a real-time code execution feature using the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JDoodle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API. The system is developed using Spring Boot for backend services, MySQL for data management, and HTML and CSS for the frontend interface. The portal offers functionalities such as user registration, login authentication, curated technical questions, AI-driven personalized preparation paths, and real-time code compilation and execution. By leveraging the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JDoodle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API, the platform supports execution in multiple programming languages, providing users with instant feedback and enhancing their coding skills. The system architecture is modular, ensuring scalability, security, and high performance. Extensive testing demonstrates the portal’s effectiveness in improving user engagement and preparation quality. The integration of AI technologies and external code execution services like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JDoodle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offers an innovative approach to interview training, addressing the limitations of traditional preparation methods.</a:t>
            </a:r>
          </a:p>
          <a:p>
            <a:pPr marL="0" indent="0" algn="just">
              <a:lnSpc>
                <a:spcPct val="150000"/>
              </a:lnSpc>
              <a:buNone/>
            </a:pPr>
            <a:endParaRPr lang="en-US" sz="16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1105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02C8A-D0BA-EFB5-9875-DDBFD0C3EBBF}"/>
              </a:ext>
            </a:extLst>
          </p:cNvPr>
          <p:cNvSpPr>
            <a:spLocks noGrp="1"/>
          </p:cNvSpPr>
          <p:nvPr>
            <p:ph type="title"/>
          </p:nvPr>
        </p:nvSpPr>
        <p:spPr/>
        <p:txBody>
          <a:bodyPr/>
          <a:lstStyle/>
          <a:p>
            <a:pPr algn="ctr"/>
            <a:r>
              <a:rPr lang="en-US" sz="2800"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60FAD6-2715-06E3-4C0B-7EB8AFCFB58C}"/>
              </a:ext>
            </a:extLst>
          </p:cNvPr>
          <p:cNvSpPr>
            <a:spLocks noGrp="1"/>
          </p:cNvSpPr>
          <p:nvPr>
            <p:ph idx="1"/>
          </p:nvPr>
        </p:nvSpPr>
        <p:spPr>
          <a:xfrm>
            <a:off x="609601" y="1828800"/>
            <a:ext cx="10461522" cy="4896465"/>
          </a:xfrm>
        </p:spPr>
        <p:txBody>
          <a:bodyPr>
            <a:normAutofit/>
          </a:bodyPr>
          <a:lstStyle/>
          <a:p>
            <a:pPr algn="just">
              <a:lnSpc>
                <a:spcPct val="150000"/>
              </a:lnSpc>
            </a:pPr>
            <a:r>
              <a:rPr lang="en-US" sz="1400" dirty="0">
                <a:latin typeface="Times New Roman" panose="02020603050405020304" pitchFamily="18" charset="0"/>
                <a:cs typeface="Times New Roman" panose="02020603050405020304" pitchFamily="18" charset="0"/>
              </a:rPr>
              <a:t>    In today’s highly competitive environment, preparing for technical interviews requires not only theoretical knowledge but also hands-on coding practice and personalized guidance. Traditional preparation methods, including books and static question banks, often fail to adapt to the dynamic nature of technical interviews. To address these challenges, the proposed system introduces an AI-Powered Interview Preparation Portal equipped with a real-time code execution </a:t>
            </a:r>
            <a:r>
              <a:rPr lang="en-US" sz="1400" dirty="0" err="1">
                <a:latin typeface="Times New Roman" panose="02020603050405020304" pitchFamily="18" charset="0"/>
                <a:cs typeface="Times New Roman" panose="02020603050405020304" pitchFamily="18" charset="0"/>
              </a:rPr>
              <a:t>feature.This</a:t>
            </a:r>
            <a:r>
              <a:rPr lang="en-US" sz="1400" dirty="0">
                <a:latin typeface="Times New Roman" panose="02020603050405020304" pitchFamily="18" charset="0"/>
                <a:cs typeface="Times New Roman" panose="02020603050405020304" pitchFamily="18" charset="0"/>
              </a:rPr>
              <a:t> portal is developed using Spring Boot as the backend framework, MySQL as the database management system, and HTML and CSS for creating an intuitive and responsive frontend interface. One of the core features of the portal is real-time code execution, enabled through integration with the </a:t>
            </a:r>
            <a:r>
              <a:rPr lang="en-US" sz="1400" dirty="0" err="1">
                <a:latin typeface="Times New Roman" panose="02020603050405020304" pitchFamily="18" charset="0"/>
                <a:cs typeface="Times New Roman" panose="02020603050405020304" pitchFamily="18" charset="0"/>
              </a:rPr>
              <a:t>JDoodle</a:t>
            </a:r>
            <a:r>
              <a:rPr lang="en-US" sz="1400" dirty="0">
                <a:latin typeface="Times New Roman" panose="02020603050405020304" pitchFamily="18" charset="0"/>
                <a:cs typeface="Times New Roman" panose="02020603050405020304" pitchFamily="18" charset="0"/>
              </a:rPr>
              <a:t> API, which supports multiple programming languages and offers instant feedback.</a:t>
            </a:r>
          </a:p>
          <a:p>
            <a:pPr algn="just">
              <a:lnSpc>
                <a:spcPct val="150000"/>
              </a:lnSpc>
            </a:pPr>
            <a:r>
              <a:rPr lang="en-US" sz="1400" dirty="0">
                <a:latin typeface="Times New Roman" panose="02020603050405020304" pitchFamily="18" charset="0"/>
                <a:cs typeface="Times New Roman" panose="02020603050405020304" pitchFamily="18" charset="0"/>
              </a:rPr>
              <a:t>   The platform offers a range of functionalities, including secure user registration and authentication, curated technical questions categorized by topics and difficulty levels, AI-generated personalized preparation paths, and real-time coding practice environments. The AI module analyzes user performance and suggests improvements, helping candidates systematically improve their technical </a:t>
            </a:r>
            <a:r>
              <a:rPr lang="en-US" sz="1400" dirty="0" err="1">
                <a:latin typeface="Times New Roman" panose="02020603050405020304" pitchFamily="18" charset="0"/>
                <a:cs typeface="Times New Roman" panose="02020603050405020304" pitchFamily="18" charset="0"/>
              </a:rPr>
              <a:t>skills.By</a:t>
            </a:r>
            <a:r>
              <a:rPr lang="en-US" sz="1400" dirty="0">
                <a:latin typeface="Times New Roman" panose="02020603050405020304" pitchFamily="18" charset="0"/>
                <a:cs typeface="Times New Roman" panose="02020603050405020304" pitchFamily="18" charset="0"/>
              </a:rPr>
              <a:t> combining modern web development frameworks with powerful third-party APIs like </a:t>
            </a:r>
            <a:r>
              <a:rPr lang="en-US" sz="1400" dirty="0" err="1">
                <a:latin typeface="Times New Roman" panose="02020603050405020304" pitchFamily="18" charset="0"/>
                <a:cs typeface="Times New Roman" panose="02020603050405020304" pitchFamily="18" charset="0"/>
              </a:rPr>
              <a:t>JDoodle</a:t>
            </a:r>
            <a:r>
              <a:rPr lang="en-US" sz="1400" dirty="0">
                <a:latin typeface="Times New Roman" panose="02020603050405020304" pitchFamily="18" charset="0"/>
                <a:cs typeface="Times New Roman" panose="02020603050405020304" pitchFamily="18" charset="0"/>
              </a:rPr>
              <a:t>, this portal provides an efficient, scalable, and user-friendly solution for students, job seekers, and professionals preparing for technical interviews. The project aims to enhance the effectiveness of interview preparation by offering an interactive learning experience that bridges the gap between theoretical knowledge and practical coding skills.</a:t>
            </a:r>
          </a:p>
          <a:p>
            <a:pPr marL="0" indent="0" algn="just">
              <a:lnSpc>
                <a:spcPct val="150000"/>
              </a:lnSpc>
              <a:buNone/>
            </a:pP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5478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93BE9-D841-BDC3-6853-460F255E2E3C}"/>
              </a:ext>
            </a:extLst>
          </p:cNvPr>
          <p:cNvSpPr>
            <a:spLocks noGrp="1"/>
          </p:cNvSpPr>
          <p:nvPr>
            <p:ph type="title"/>
          </p:nvPr>
        </p:nvSpPr>
        <p:spPr/>
        <p:txBody>
          <a:bodyPr/>
          <a:lstStyle/>
          <a:p>
            <a:pPr algn="ctr">
              <a:lnSpc>
                <a:spcPct val="150000"/>
              </a:lnSpc>
            </a:pPr>
            <a:r>
              <a:rPr lang="en-US" sz="3200" b="1" dirty="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D62850-1310-CF9A-B5CD-014E8C28D3A6}"/>
              </a:ext>
            </a:extLst>
          </p:cNvPr>
          <p:cNvSpPr>
            <a:spLocks noGrp="1"/>
          </p:cNvSpPr>
          <p:nvPr>
            <p:ph idx="1"/>
          </p:nvPr>
        </p:nvSpPr>
        <p:spPr>
          <a:xfrm>
            <a:off x="550607" y="1828800"/>
            <a:ext cx="10540180" cy="4351337"/>
          </a:xfrm>
        </p:spPr>
        <p:txBody>
          <a:bodyPr>
            <a:normAutofit/>
          </a:bodyPr>
          <a:lstStyle/>
          <a:p>
            <a:pPr algn="just">
              <a:lnSpc>
                <a:spcPct val="150000"/>
              </a:lnSpc>
            </a:pPr>
            <a:r>
              <a:rPr lang="en-US" sz="1600" dirty="0">
                <a:latin typeface="Times New Roman" panose="02020603050405020304" pitchFamily="18" charset="0"/>
                <a:cs typeface="Times New Roman" panose="02020603050405020304" pitchFamily="18" charset="0"/>
              </a:rPr>
              <a:t>Pelau et al. [1] explored the human-likeness of AI devices in the service industry, highlighting how interaction quality, empathy, and perceived psychological anthropomorphism significantly influence users’ acceptance of AI. Their findings emphasize the need for emotionally intelligent AI interfaces to enhance user engagement and trust.</a:t>
            </a:r>
          </a:p>
          <a:p>
            <a:pPr algn="just">
              <a:lnSpc>
                <a:spcPct val="150000"/>
              </a:lnSpc>
            </a:pPr>
            <a:r>
              <a:rPr lang="en-US" sz="1600" dirty="0">
                <a:latin typeface="Times New Roman" panose="02020603050405020304" pitchFamily="18" charset="0"/>
                <a:cs typeface="Times New Roman" panose="02020603050405020304" pitchFamily="18" charset="0"/>
              </a:rPr>
              <a:t>In the educational domain, </a:t>
            </a:r>
            <a:r>
              <a:rPr lang="en-US" sz="1600" dirty="0" err="1">
                <a:latin typeface="Times New Roman" panose="02020603050405020304" pitchFamily="18" charset="0"/>
                <a:cs typeface="Times New Roman" panose="02020603050405020304" pitchFamily="18" charset="0"/>
              </a:rPr>
              <a:t>Dibitonto</a:t>
            </a:r>
            <a:r>
              <a:rPr lang="en-US" sz="1600" dirty="0">
                <a:latin typeface="Times New Roman" panose="02020603050405020304" pitchFamily="18" charset="0"/>
                <a:cs typeface="Times New Roman" panose="02020603050405020304" pitchFamily="18" charset="0"/>
              </a:rPr>
              <a:t> et al. [2] presented the design and deployment of </a:t>
            </a:r>
            <a:r>
              <a:rPr lang="en-US" sz="1600" dirty="0" err="1">
                <a:latin typeface="Times New Roman" panose="02020603050405020304" pitchFamily="18" charset="0"/>
                <a:cs typeface="Times New Roman" panose="02020603050405020304" pitchFamily="18" charset="0"/>
              </a:rPr>
              <a:t>LiSA</a:t>
            </a:r>
            <a:r>
              <a:rPr lang="en-US" sz="1600" dirty="0">
                <a:latin typeface="Times New Roman" panose="02020603050405020304" pitchFamily="18" charset="0"/>
                <a:cs typeface="Times New Roman" panose="02020603050405020304" pitchFamily="18" charset="0"/>
              </a:rPr>
              <a:t>, a campus-based chatbot aimed at assisting students in managing their university activities. The study focused on the human-computer interaction aspects and underscored the importance of user-centric design in creating effective virtual assistants for academic settings.</a:t>
            </a:r>
          </a:p>
          <a:p>
            <a:pPr algn="just">
              <a:lnSpc>
                <a:spcPct val="150000"/>
              </a:lnSpc>
            </a:pPr>
            <a:r>
              <a:rPr lang="en-US" sz="1600" dirty="0">
                <a:latin typeface="Times New Roman" panose="02020603050405020304" pitchFamily="18" charset="0"/>
                <a:cs typeface="Times New Roman" panose="02020603050405020304" pitchFamily="18" charset="0"/>
              </a:rPr>
              <a:t>Addressing tourism, Arteaga et al. [3] proposed an architectural design for a chatbot-based information system recommending tourist sites in Manta, Ecuador. Their research demonstrates the effectiveness of chatbots in location-based service recommendations and the integration of user preferences to tailor suggestions.</a:t>
            </a:r>
          </a:p>
        </p:txBody>
      </p:sp>
    </p:spTree>
    <p:extLst>
      <p:ext uri="{BB962C8B-B14F-4D97-AF65-F5344CB8AC3E}">
        <p14:creationId xmlns:p14="http://schemas.microsoft.com/office/powerpoint/2010/main" val="364963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2DE0F-924F-822B-AEAB-B071D04623AC}"/>
              </a:ext>
            </a:extLst>
          </p:cNvPr>
          <p:cNvSpPr>
            <a:spLocks noGrp="1"/>
          </p:cNvSpPr>
          <p:nvPr>
            <p:ph idx="1"/>
          </p:nvPr>
        </p:nvSpPr>
        <p:spPr>
          <a:xfrm>
            <a:off x="845573" y="1140542"/>
            <a:ext cx="9940413" cy="5039595"/>
          </a:xfrm>
        </p:spPr>
        <p:txBody>
          <a:bodyPr>
            <a:normAutofit/>
          </a:bodyPr>
          <a:lstStyle/>
          <a:p>
            <a:pPr algn="just">
              <a:lnSpc>
                <a:spcPct val="150000"/>
              </a:lnSpc>
            </a:pPr>
            <a:r>
              <a:rPr lang="en-US" sz="2000" dirty="0" err="1">
                <a:latin typeface="Times New Roman" panose="02020603050405020304" pitchFamily="18" charset="0"/>
                <a:cs typeface="Times New Roman" panose="02020603050405020304" pitchFamily="18" charset="0"/>
              </a:rPr>
              <a:t>Falalta-Séchet</a:t>
            </a:r>
            <a:r>
              <a:rPr lang="en-US" sz="2000" dirty="0">
                <a:latin typeface="Times New Roman" panose="02020603050405020304" pitchFamily="18" charset="0"/>
                <a:cs typeface="Times New Roman" panose="02020603050405020304" pitchFamily="18" charset="0"/>
              </a:rPr>
              <a:t> et al. [4] introduced </a:t>
            </a:r>
            <a:r>
              <a:rPr lang="en-US" sz="2000" dirty="0" err="1">
                <a:latin typeface="Times New Roman" panose="02020603050405020304" pitchFamily="18" charset="0"/>
                <a:cs typeface="Times New Roman" panose="02020603050405020304" pitchFamily="18" charset="0"/>
              </a:rPr>
              <a:t>Owlie</a:t>
            </a:r>
            <a:r>
              <a:rPr lang="en-US" sz="2000" dirty="0">
                <a:latin typeface="Times New Roman" panose="02020603050405020304" pitchFamily="18" charset="0"/>
                <a:cs typeface="Times New Roman" panose="02020603050405020304" pitchFamily="18" charset="0"/>
              </a:rPr>
              <a:t>, a chatbot developed to provide emotional support for individuals facing psychological difficulties. The study revealed how emotionally supportive chatbots could offer accessible mental health assistance, especially when conventional therapy is not immediately available.</a:t>
            </a:r>
          </a:p>
          <a:p>
            <a:pPr algn="just">
              <a:lnSpc>
                <a:spcPct val="150000"/>
              </a:lnSpc>
            </a:pPr>
            <a:r>
              <a:rPr lang="en-US" sz="2000" dirty="0">
                <a:latin typeface="Times New Roman" panose="02020603050405020304" pitchFamily="18" charset="0"/>
                <a:cs typeface="Times New Roman" panose="02020603050405020304" pitchFamily="18" charset="0"/>
              </a:rPr>
              <a:t>Finally, </a:t>
            </a:r>
            <a:r>
              <a:rPr lang="en-US" sz="2000" dirty="0" err="1">
                <a:latin typeface="Times New Roman" panose="02020603050405020304" pitchFamily="18" charset="0"/>
                <a:cs typeface="Times New Roman" panose="02020603050405020304" pitchFamily="18" charset="0"/>
              </a:rPr>
              <a:t>Adiwardana</a:t>
            </a:r>
            <a:r>
              <a:rPr lang="en-US" sz="2000" dirty="0">
                <a:latin typeface="Times New Roman" panose="02020603050405020304" pitchFamily="18" charset="0"/>
                <a:cs typeface="Times New Roman" panose="02020603050405020304" pitchFamily="18" charset="0"/>
              </a:rPr>
              <a:t> et al. [5] examined the development of an open-domain chatbot aimed at mimicking human-like conversations. The research focused on the challenges and advancements in natural language understanding and generation, making significant contributions toward creating more conversationally natural AI systems.</a:t>
            </a:r>
          </a:p>
        </p:txBody>
      </p:sp>
    </p:spTree>
    <p:extLst>
      <p:ext uri="{BB962C8B-B14F-4D97-AF65-F5344CB8AC3E}">
        <p14:creationId xmlns:p14="http://schemas.microsoft.com/office/powerpoint/2010/main" val="1989068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C0329-0E40-8AEF-24F5-9DEDF79FFE29}"/>
              </a:ext>
            </a:extLst>
          </p:cNvPr>
          <p:cNvSpPr>
            <a:spLocks noGrp="1"/>
          </p:cNvSpPr>
          <p:nvPr>
            <p:ph type="title"/>
          </p:nvPr>
        </p:nvSpPr>
        <p:spPr>
          <a:xfrm>
            <a:off x="1261872" y="528320"/>
            <a:ext cx="9692640" cy="670560"/>
          </a:xfrm>
        </p:spPr>
        <p:txBody>
          <a:bodyPr/>
          <a:lstStyle/>
          <a:p>
            <a:pPr algn="ctr">
              <a:lnSpc>
                <a:spcPct val="150000"/>
              </a:lnSpc>
            </a:pPr>
            <a:r>
              <a:rPr lang="en-US" sz="2800" b="1" dirty="0">
                <a:latin typeface="Times New Roman" panose="02020603050405020304" pitchFamily="18" charset="0"/>
                <a:cs typeface="Times New Roman" panose="02020603050405020304" pitchFamily="18" charset="0"/>
              </a:rPr>
              <a:t>ALGORITHMS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0821E8-B3B2-1A1E-A831-EF8608CE0997}"/>
              </a:ext>
            </a:extLst>
          </p:cNvPr>
          <p:cNvSpPr>
            <a:spLocks noGrp="1"/>
          </p:cNvSpPr>
          <p:nvPr>
            <p:ph idx="1"/>
          </p:nvPr>
        </p:nvSpPr>
        <p:spPr>
          <a:xfrm>
            <a:off x="1261872" y="1341120"/>
            <a:ext cx="8595360" cy="4839017"/>
          </a:xfrm>
        </p:spPr>
        <p:txBody>
          <a:bodyPr>
            <a:noAutofit/>
          </a:bodyPr>
          <a:lstStyle/>
          <a:p>
            <a:pPr>
              <a:buNone/>
            </a:pPr>
            <a:r>
              <a:rPr lang="en-US" sz="1000" b="1" dirty="0"/>
              <a:t>1. User Registration Algorithm</a:t>
            </a:r>
          </a:p>
          <a:p>
            <a:r>
              <a:rPr lang="en-US" sz="1000" dirty="0"/>
              <a:t>Start</a:t>
            </a:r>
          </a:p>
          <a:p>
            <a:r>
              <a:rPr lang="en-US" sz="1000" dirty="0"/>
              <a:t>Display the registration form.</a:t>
            </a:r>
          </a:p>
          <a:p>
            <a:r>
              <a:rPr lang="en-US" sz="1000" dirty="0"/>
              <a:t>User enters name, email, password.</a:t>
            </a:r>
          </a:p>
          <a:p>
            <a:r>
              <a:rPr lang="en-US" sz="1000" dirty="0"/>
              <a:t>Validate the user input.</a:t>
            </a:r>
          </a:p>
          <a:p>
            <a:r>
              <a:rPr lang="en-US" sz="1000" dirty="0"/>
              <a:t>Save the user details to the database.</a:t>
            </a:r>
          </a:p>
          <a:p>
            <a:r>
              <a:rPr lang="en-US" sz="1000" dirty="0"/>
              <a:t>Redirect user to the login page.</a:t>
            </a:r>
          </a:p>
          <a:p>
            <a:r>
              <a:rPr lang="en-US" sz="1000" dirty="0"/>
              <a:t>End</a:t>
            </a:r>
          </a:p>
          <a:p>
            <a:pPr>
              <a:buNone/>
            </a:pPr>
            <a:r>
              <a:rPr lang="en-US" sz="1000" b="1" dirty="0"/>
              <a:t>2. User Login Algorithm</a:t>
            </a:r>
          </a:p>
          <a:p>
            <a:r>
              <a:rPr lang="en-US" sz="1000" dirty="0"/>
              <a:t>Start</a:t>
            </a:r>
          </a:p>
          <a:p>
            <a:r>
              <a:rPr lang="en-US" sz="1000" dirty="0"/>
              <a:t>Display the login form.</a:t>
            </a:r>
          </a:p>
          <a:p>
            <a:r>
              <a:rPr lang="en-US" sz="1000" dirty="0"/>
              <a:t>User enters email and password.</a:t>
            </a:r>
          </a:p>
          <a:p>
            <a:r>
              <a:rPr lang="en-US" sz="1000" dirty="0"/>
              <a:t>Authenticate credentials.</a:t>
            </a:r>
          </a:p>
          <a:p>
            <a:r>
              <a:rPr lang="en-US" sz="1000" dirty="0"/>
              <a:t>If login successful:</a:t>
            </a:r>
          </a:p>
          <a:p>
            <a:pPr marL="742950" lvl="1" indent="-285750">
              <a:buFont typeface="Arial" panose="020B0604020202020204" pitchFamily="34" charset="0"/>
              <a:buChar char="•"/>
            </a:pPr>
            <a:r>
              <a:rPr lang="en-US" sz="1000" dirty="0"/>
              <a:t>Redirect to the dashboard.</a:t>
            </a:r>
          </a:p>
          <a:p>
            <a:endParaRPr lang="en-US" sz="1000" dirty="0"/>
          </a:p>
          <a:p>
            <a:pPr marL="468630" indent="-285750"/>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9127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75B41-5B2C-E3A1-6008-BABBC2F38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554B9-B33F-9C44-291C-67C300E76D38}"/>
              </a:ext>
            </a:extLst>
          </p:cNvPr>
          <p:cNvSpPr>
            <a:spLocks noGrp="1"/>
          </p:cNvSpPr>
          <p:nvPr>
            <p:ph type="title"/>
          </p:nvPr>
        </p:nvSpPr>
        <p:spPr>
          <a:xfrm>
            <a:off x="713232" y="365760"/>
            <a:ext cx="9692640" cy="1056640"/>
          </a:xfrm>
        </p:spPr>
        <p:txBody>
          <a:bodyPr/>
          <a:lstStyle/>
          <a:p>
            <a:pPr algn="ctr">
              <a:lnSpc>
                <a:spcPct val="150000"/>
              </a:lnSpc>
            </a:pPr>
            <a:r>
              <a:rPr lang="en-US" sz="2800" b="1" dirty="0">
                <a:latin typeface="Times New Roman" panose="02020603050405020304" pitchFamily="18" charset="0"/>
                <a:cs typeface="Times New Roman" panose="02020603050405020304" pitchFamily="18" charset="0"/>
              </a:rPr>
              <a:t>ALGORITHMS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50C86A-9ED0-600B-B267-AE30732C041B}"/>
              </a:ext>
            </a:extLst>
          </p:cNvPr>
          <p:cNvSpPr>
            <a:spLocks noGrp="1"/>
          </p:cNvSpPr>
          <p:nvPr>
            <p:ph idx="1"/>
          </p:nvPr>
        </p:nvSpPr>
        <p:spPr>
          <a:xfrm>
            <a:off x="1251712" y="1544320"/>
            <a:ext cx="8595360" cy="5161280"/>
          </a:xfrm>
        </p:spPr>
        <p:txBody>
          <a:bodyPr>
            <a:noAutofit/>
          </a:bodyPr>
          <a:lstStyle/>
          <a:p>
            <a:pPr>
              <a:buNone/>
            </a:pPr>
            <a:r>
              <a:rPr lang="en-US" sz="1000" b="1" dirty="0"/>
              <a:t>3.View Interview Questions Algorithm</a:t>
            </a:r>
          </a:p>
          <a:p>
            <a:r>
              <a:rPr lang="en-US" sz="1000" dirty="0"/>
              <a:t>Start</a:t>
            </a:r>
          </a:p>
          <a:p>
            <a:r>
              <a:rPr lang="en-US" sz="1000" dirty="0"/>
              <a:t>User selects a category.</a:t>
            </a:r>
          </a:p>
          <a:p>
            <a:r>
              <a:rPr lang="en-US" sz="1000" dirty="0"/>
              <a:t>Fetch all questions based on the selected category from the database.</a:t>
            </a:r>
          </a:p>
          <a:p>
            <a:r>
              <a:rPr lang="en-US" sz="1000" dirty="0"/>
              <a:t>Display the list of questions.</a:t>
            </a:r>
          </a:p>
          <a:p>
            <a:r>
              <a:rPr lang="en-US" sz="1000" dirty="0"/>
              <a:t>End</a:t>
            </a:r>
          </a:p>
          <a:p>
            <a:pPr>
              <a:buNone/>
            </a:pPr>
            <a:r>
              <a:rPr lang="en-IN" sz="1000" b="1" dirty="0"/>
              <a:t>4.Code Submission and Execution Algorithm</a:t>
            </a:r>
          </a:p>
          <a:p>
            <a:r>
              <a:rPr lang="en-IN" sz="1000" dirty="0"/>
              <a:t>Start</a:t>
            </a:r>
          </a:p>
          <a:p>
            <a:r>
              <a:rPr lang="en-IN" sz="1000" dirty="0"/>
              <a:t>User writes code in the code editor.</a:t>
            </a:r>
          </a:p>
          <a:p>
            <a:r>
              <a:rPr lang="en-IN" sz="1000" dirty="0"/>
              <a:t>User submits the code.</a:t>
            </a:r>
          </a:p>
          <a:p>
            <a:r>
              <a:rPr lang="en-IN" sz="1000" dirty="0"/>
              <a:t>Prepare API request with code details.</a:t>
            </a:r>
          </a:p>
          <a:p>
            <a:r>
              <a:rPr lang="en-IN" sz="1000" dirty="0"/>
              <a:t>Send the request to </a:t>
            </a:r>
            <a:r>
              <a:rPr lang="en-IN" sz="1000" dirty="0" err="1"/>
              <a:t>JDoodle</a:t>
            </a:r>
            <a:r>
              <a:rPr lang="en-IN" sz="1000" dirty="0"/>
              <a:t> API.</a:t>
            </a:r>
          </a:p>
          <a:p>
            <a:r>
              <a:rPr lang="en-IN" sz="1000" dirty="0"/>
              <a:t>Receive output or error message.</a:t>
            </a:r>
          </a:p>
          <a:p>
            <a:r>
              <a:rPr lang="en-IN" sz="1000" dirty="0"/>
              <a:t>Save code, output, and user info into the database.</a:t>
            </a:r>
          </a:p>
          <a:p>
            <a:r>
              <a:rPr lang="en-IN" sz="1000" dirty="0"/>
              <a:t>Display output to the user.</a:t>
            </a:r>
          </a:p>
          <a:p>
            <a:pPr marL="468630" indent="-285750"/>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4317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E72B-3D2A-CD36-E4AB-4B5DB13F4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B1170-6EAC-E30B-7EF3-C66FE69994B7}"/>
              </a:ext>
            </a:extLst>
          </p:cNvPr>
          <p:cNvSpPr>
            <a:spLocks noGrp="1"/>
          </p:cNvSpPr>
          <p:nvPr>
            <p:ph type="title"/>
          </p:nvPr>
        </p:nvSpPr>
        <p:spPr/>
        <p:txBody>
          <a:bodyPr/>
          <a:lstStyle/>
          <a:p>
            <a:pPr algn="ctr">
              <a:lnSpc>
                <a:spcPct val="150000"/>
              </a:lnSpc>
            </a:pPr>
            <a:r>
              <a:rPr lang="en-US" sz="2800" b="1" dirty="0">
                <a:latin typeface="Times New Roman" panose="02020603050405020304" pitchFamily="18" charset="0"/>
                <a:cs typeface="Times New Roman" panose="02020603050405020304" pitchFamily="18" charset="0"/>
              </a:rPr>
              <a:t>OBJECTIVE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900C87-6B67-52CB-7C31-61378C0A920A}"/>
              </a:ext>
            </a:extLst>
          </p:cNvPr>
          <p:cNvSpPr>
            <a:spLocks noGrp="1"/>
          </p:cNvSpPr>
          <p:nvPr>
            <p:ph idx="1"/>
          </p:nvPr>
        </p:nvSpPr>
        <p:spPr/>
        <p:txBody>
          <a:bodyPr>
            <a:normAutofit/>
          </a:bodyPr>
          <a:lstStyle/>
          <a:p>
            <a:pPr marL="0" indent="0" algn="just">
              <a:lnSpc>
                <a:spcPct val="150000"/>
              </a:lnSpc>
              <a:buNone/>
            </a:pPr>
            <a:r>
              <a:rPr lang="en-US" sz="1350" dirty="0">
                <a:latin typeface="Times New Roman" panose="02020603050405020304" pitchFamily="18" charset="0"/>
                <a:cs typeface="Times New Roman" panose="02020603050405020304" pitchFamily="18" charset="0"/>
              </a:rPr>
              <a:t>The objective of this project is to build an interactive, AI-powered Interview Preparation Portal that enables users—especially students and job seekers—to practice and improve their coding skills in a real-world </a:t>
            </a:r>
            <a:r>
              <a:rPr lang="en-US" sz="1350" dirty="0" err="1">
                <a:latin typeface="Times New Roman" panose="02020603050405020304" pitchFamily="18" charset="0"/>
                <a:cs typeface="Times New Roman" panose="02020603050405020304" pitchFamily="18" charset="0"/>
              </a:rPr>
              <a:t>environment.In</a:t>
            </a:r>
            <a:r>
              <a:rPr lang="en-US" sz="1350" dirty="0">
                <a:latin typeface="Times New Roman" panose="02020603050405020304" pitchFamily="18" charset="0"/>
                <a:cs typeface="Times New Roman" panose="02020603050405020304" pitchFamily="18" charset="0"/>
              </a:rPr>
              <a:t> traditional learning methods, students often struggle to get instant feedback on their coding solutions, and their preparation becomes less effective due to lack of practical testing environments. This project aims to bridge that gap by providing an online code editor integrated with a code execution API (</a:t>
            </a:r>
            <a:r>
              <a:rPr lang="en-US" sz="1350" dirty="0" err="1">
                <a:latin typeface="Times New Roman" panose="02020603050405020304" pitchFamily="18" charset="0"/>
                <a:cs typeface="Times New Roman" panose="02020603050405020304" pitchFamily="18" charset="0"/>
              </a:rPr>
              <a:t>JDoodle</a:t>
            </a:r>
            <a:r>
              <a:rPr lang="en-US" sz="1350" dirty="0">
                <a:latin typeface="Times New Roman" panose="02020603050405020304" pitchFamily="18" charset="0"/>
                <a:cs typeface="Times New Roman" panose="02020603050405020304" pitchFamily="18" charset="0"/>
              </a:rPr>
              <a:t>) that allows users to write, compile, and execute code directly within the </a:t>
            </a:r>
            <a:r>
              <a:rPr lang="en-US" sz="1350" dirty="0" err="1">
                <a:latin typeface="Times New Roman" panose="02020603050405020304" pitchFamily="18" charset="0"/>
                <a:cs typeface="Times New Roman" panose="02020603050405020304" pitchFamily="18" charset="0"/>
              </a:rPr>
              <a:t>browser.The</a:t>
            </a:r>
            <a:r>
              <a:rPr lang="en-US" sz="1350" dirty="0">
                <a:latin typeface="Times New Roman" panose="02020603050405020304" pitchFamily="18" charset="0"/>
                <a:cs typeface="Times New Roman" panose="02020603050405020304" pitchFamily="18" charset="0"/>
              </a:rPr>
              <a:t> system also maintains a history of submissions, enabling users to track their learning progress over time. Questions are categorized (e.g., Data Structures, Algorithms), allowing users to focus on specific areas during preparation. Additionally, the platform supports user registration and login, creating a personalized experience where each user can access their dashboard, solve questions, and view their code </a:t>
            </a:r>
            <a:r>
              <a:rPr lang="en-US" sz="1350" dirty="0" err="1">
                <a:latin typeface="Times New Roman" panose="02020603050405020304" pitchFamily="18" charset="0"/>
                <a:cs typeface="Times New Roman" panose="02020603050405020304" pitchFamily="18" charset="0"/>
              </a:rPr>
              <a:t>outputs.By</a:t>
            </a:r>
            <a:r>
              <a:rPr lang="en-US" sz="1350" dirty="0">
                <a:latin typeface="Times New Roman" panose="02020603050405020304" pitchFamily="18" charset="0"/>
                <a:cs typeface="Times New Roman" panose="02020603050405020304" pitchFamily="18" charset="0"/>
              </a:rPr>
              <a:t> combining code execution, structured question delivery, and submission history, this project offers a self-paced, feedback-driven learning experience aimed at improving a candidate's confidence and coding ability for technical interviews.</a:t>
            </a:r>
          </a:p>
          <a:p>
            <a:pPr marL="0" indent="0" algn="just">
              <a:lnSpc>
                <a:spcPct val="150000"/>
              </a:lnSpc>
              <a:buNone/>
            </a:pPr>
            <a:endParaRPr lang="en-US" sz="135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3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9985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E441E-4602-C7F6-3A66-8FFAC13BFC51}"/>
              </a:ext>
            </a:extLst>
          </p:cNvPr>
          <p:cNvSpPr>
            <a:spLocks noGrp="1"/>
          </p:cNvSpPr>
          <p:nvPr>
            <p:ph type="title"/>
          </p:nvPr>
        </p:nvSpPr>
        <p:spPr/>
        <p:txBody>
          <a:bodyPr/>
          <a:lstStyle/>
          <a:p>
            <a:pPr algn="ctr">
              <a:lnSpc>
                <a:spcPct val="150000"/>
              </a:lnSpc>
            </a:pPr>
            <a:r>
              <a:rPr lang="en-US" sz="3200" b="1" dirty="0">
                <a:latin typeface="Times New Roman" panose="02020603050405020304" pitchFamily="18" charset="0"/>
                <a:cs typeface="Times New Roman" panose="02020603050405020304" pitchFamily="18" charset="0"/>
              </a:rPr>
              <a:t>EXISTING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CD9353-F7B7-1436-72BC-23C57E7BE659}"/>
              </a:ext>
            </a:extLst>
          </p:cNvPr>
          <p:cNvSpPr>
            <a:spLocks noGrp="1"/>
          </p:cNvSpPr>
          <p:nvPr>
            <p:ph idx="1"/>
          </p:nvPr>
        </p:nvSpPr>
        <p:spPr>
          <a:xfrm>
            <a:off x="639097" y="1828800"/>
            <a:ext cx="10432026" cy="4351337"/>
          </a:xfrm>
        </p:spPr>
        <p:txBody>
          <a:bodyPr>
            <a:normAutofit/>
          </a:bodyPr>
          <a:lstStyle/>
          <a:p>
            <a:pPr algn="just">
              <a:lnSpc>
                <a:spcPct val="150000"/>
              </a:lnSpc>
            </a:pPr>
            <a:r>
              <a:rPr lang="en-US" sz="1350" dirty="0">
                <a:latin typeface="Times New Roman" panose="02020603050405020304" pitchFamily="18" charset="0"/>
                <a:cs typeface="Times New Roman" panose="02020603050405020304" pitchFamily="18" charset="0"/>
              </a:rPr>
              <a:t>   Currently, several online platforms such as </a:t>
            </a:r>
            <a:r>
              <a:rPr lang="en-US" sz="1350" dirty="0" err="1">
                <a:latin typeface="Times New Roman" panose="02020603050405020304" pitchFamily="18" charset="0"/>
                <a:cs typeface="Times New Roman" panose="02020603050405020304" pitchFamily="18" charset="0"/>
              </a:rPr>
              <a:t>LeetCode</a:t>
            </a:r>
            <a:r>
              <a:rPr lang="en-US" sz="1350" dirty="0">
                <a:latin typeface="Times New Roman" panose="02020603050405020304" pitchFamily="18" charset="0"/>
                <a:cs typeface="Times New Roman" panose="02020603050405020304" pitchFamily="18" charset="0"/>
              </a:rPr>
              <a:t>, </a:t>
            </a:r>
            <a:r>
              <a:rPr lang="en-US" sz="1350" dirty="0" err="1">
                <a:latin typeface="Times New Roman" panose="02020603050405020304" pitchFamily="18" charset="0"/>
                <a:cs typeface="Times New Roman" panose="02020603050405020304" pitchFamily="18" charset="0"/>
              </a:rPr>
              <a:t>HackerRank</a:t>
            </a:r>
            <a:r>
              <a:rPr lang="en-US" sz="1350" dirty="0">
                <a:latin typeface="Times New Roman" panose="02020603050405020304" pitchFamily="18" charset="0"/>
                <a:cs typeface="Times New Roman" panose="02020603050405020304" pitchFamily="18" charset="0"/>
              </a:rPr>
              <a:t>, and </a:t>
            </a:r>
            <a:r>
              <a:rPr lang="en-US" sz="1350" dirty="0" err="1">
                <a:latin typeface="Times New Roman" panose="02020603050405020304" pitchFamily="18" charset="0"/>
                <a:cs typeface="Times New Roman" panose="02020603050405020304" pitchFamily="18" charset="0"/>
              </a:rPr>
              <a:t>GeeksforGeeks</a:t>
            </a:r>
            <a:r>
              <a:rPr lang="en-US" sz="1350" dirty="0">
                <a:latin typeface="Times New Roman" panose="02020603050405020304" pitchFamily="18" charset="0"/>
                <a:cs typeface="Times New Roman" panose="02020603050405020304" pitchFamily="18" charset="0"/>
              </a:rPr>
              <a:t> provide coding practice environments for interview preparation. These platforms offer a wide range of programming questions, online code editors, and automatic code execution features. While they are effective for users with intermediate to advanced coding skills, they often lack personalized learning paths and detailed submission tracking for beginners. Moreover, many advanced features like mock interviews, company-specific question sets, and performance analytics are locked behind paid subscriptions, limiting full access to all users.</a:t>
            </a:r>
          </a:p>
          <a:p>
            <a:pPr algn="just">
              <a:lnSpc>
                <a:spcPct val="150000"/>
              </a:lnSpc>
            </a:pPr>
            <a:r>
              <a:rPr lang="en-US" sz="1350" dirty="0">
                <a:latin typeface="Times New Roman" panose="02020603050405020304" pitchFamily="18" charset="0"/>
                <a:cs typeface="Times New Roman" panose="02020603050405020304" pitchFamily="18" charset="0"/>
              </a:rPr>
              <a:t>Despite their popularity, existing systems have certain limitations that create challenges for students and freshers who are preparing for interviews. These platforms are primarily designed for competitive programming or large-scale participation rather than personalized academic learning. They usually lack features like user-specific dashboards, detailed tracking of coding history, and academic-level simplicity. As a result, there is a need for a customized solution that offers real-time code execution, easy tracking of submissions, structured question categories, and a user-friendly interface specifically designed for interview preparation and educational purposes.</a:t>
            </a:r>
          </a:p>
          <a:p>
            <a:pPr marL="0" indent="0" algn="just">
              <a:lnSpc>
                <a:spcPct val="150000"/>
              </a:lnSpc>
              <a:buNone/>
            </a:pPr>
            <a:endParaRPr lang="en-IN" sz="13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798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97B0F-05DB-CDAF-2F6A-955557FDE69F}"/>
              </a:ext>
            </a:extLst>
          </p:cNvPr>
          <p:cNvSpPr>
            <a:spLocks noGrp="1"/>
          </p:cNvSpPr>
          <p:nvPr>
            <p:ph type="title"/>
          </p:nvPr>
        </p:nvSpPr>
        <p:spPr/>
        <p:txBody>
          <a:bodyPr/>
          <a:lstStyle/>
          <a:p>
            <a:pPr algn="ctr">
              <a:lnSpc>
                <a:spcPct val="150000"/>
              </a:lnSpc>
            </a:pPr>
            <a:r>
              <a:rPr lang="en-US" sz="3200" b="1" dirty="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2C0410-2F09-5A04-249D-77203A8E8F32}"/>
              </a:ext>
            </a:extLst>
          </p:cNvPr>
          <p:cNvSpPr>
            <a:spLocks noGrp="1"/>
          </p:cNvSpPr>
          <p:nvPr>
            <p:ph idx="1"/>
          </p:nvPr>
        </p:nvSpPr>
        <p:spPr>
          <a:xfrm>
            <a:off x="707923" y="1828800"/>
            <a:ext cx="10246589" cy="4351337"/>
          </a:xfrm>
        </p:spPr>
        <p:txBody>
          <a:bodyPr>
            <a:normAutofit/>
          </a:bodyPr>
          <a:lstStyle/>
          <a:p>
            <a:pPr algn="just">
              <a:lnSpc>
                <a:spcPct val="150000"/>
              </a:lnSpc>
            </a:pPr>
            <a:r>
              <a:rPr lang="en-US" sz="1350" dirty="0">
                <a:latin typeface="Times New Roman" panose="02020603050405020304" pitchFamily="18" charset="0"/>
                <a:cs typeface="Times New Roman" panose="02020603050405020304" pitchFamily="18" charset="0"/>
              </a:rPr>
              <a:t>The proposed system is an </a:t>
            </a:r>
            <a:r>
              <a:rPr lang="en-US" sz="1350" b="1" dirty="0">
                <a:latin typeface="Times New Roman" panose="02020603050405020304" pitchFamily="18" charset="0"/>
                <a:cs typeface="Times New Roman" panose="02020603050405020304" pitchFamily="18" charset="0"/>
              </a:rPr>
              <a:t>AI-Powered Interview Preparation Portal</a:t>
            </a:r>
            <a:r>
              <a:rPr lang="en-US" sz="1350" dirty="0">
                <a:latin typeface="Times New Roman" panose="02020603050405020304" pitchFamily="18" charset="0"/>
                <a:cs typeface="Times New Roman" panose="02020603050405020304" pitchFamily="18" charset="0"/>
              </a:rPr>
              <a:t> that allows users to practice coding questions, execute their code in real-time, and track their submissions in a personalized environment. It provides a web-based platform where users can register, log in, select questions by category, and write code directly in an integrated code editor. Upon submission, the system uses an external API (such as </a:t>
            </a:r>
            <a:r>
              <a:rPr lang="en-US" sz="1350" dirty="0" err="1">
                <a:latin typeface="Times New Roman" panose="02020603050405020304" pitchFamily="18" charset="0"/>
                <a:cs typeface="Times New Roman" panose="02020603050405020304" pitchFamily="18" charset="0"/>
              </a:rPr>
              <a:t>JDoodle</a:t>
            </a:r>
            <a:r>
              <a:rPr lang="en-US" sz="1350" dirty="0">
                <a:latin typeface="Times New Roman" panose="02020603050405020304" pitchFamily="18" charset="0"/>
                <a:cs typeface="Times New Roman" panose="02020603050405020304" pitchFamily="18" charset="0"/>
              </a:rPr>
              <a:t>) to compile and execute the code instantly, returning the output for immediate feedback. This enhances the user’s ability to practice coding in a realistic, interview-like environment.</a:t>
            </a:r>
          </a:p>
          <a:p>
            <a:pPr algn="just">
              <a:lnSpc>
                <a:spcPct val="150000"/>
              </a:lnSpc>
            </a:pPr>
            <a:r>
              <a:rPr lang="en-US" sz="1350" dirty="0">
                <a:latin typeface="Times New Roman" panose="02020603050405020304" pitchFamily="18" charset="0"/>
                <a:cs typeface="Times New Roman" panose="02020603050405020304" pitchFamily="18" charset="0"/>
              </a:rPr>
              <a:t>Additionally, the portal maintains a history of each user's code submissions, including the code, output, and timestamps. This helps users monitor their progress over time and review their previous attempts. Unlike existing platforms, this system focuses specifically on academic and beginner-level users by offering a simple interface, structured question categories, and free access to core features. It is designed to create an efficient, self-paced learning environment that prepares students and job seekers for technical interviews through continuous practice and instant evaluation.</a:t>
            </a:r>
          </a:p>
          <a:p>
            <a:pPr marL="0" indent="0" algn="just">
              <a:lnSpc>
                <a:spcPct val="150000"/>
              </a:lnSpc>
              <a:buNone/>
            </a:pPr>
            <a:endParaRPr lang="en-IN" sz="13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22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B019-A6B4-DF38-A71B-637CECB7290A}"/>
              </a:ext>
            </a:extLst>
          </p:cNvPr>
          <p:cNvSpPr>
            <a:spLocks noGrp="1"/>
          </p:cNvSpPr>
          <p:nvPr>
            <p:ph type="title"/>
          </p:nvPr>
        </p:nvSpPr>
        <p:spPr/>
        <p:txBody>
          <a:bodyPr/>
          <a:lstStyle/>
          <a:p>
            <a:pPr algn="ctr">
              <a:lnSpc>
                <a:spcPct val="150000"/>
              </a:lnSpc>
            </a:pPr>
            <a:r>
              <a:rPr lang="en-US" sz="3200" b="1" dirty="0">
                <a:latin typeface="Times New Roman" panose="02020603050405020304" pitchFamily="18" charset="0"/>
                <a:cs typeface="Times New Roman" panose="02020603050405020304" pitchFamily="18" charset="0"/>
              </a:rPr>
              <a:t>ARCHITECTURE</a:t>
            </a:r>
            <a:endParaRPr lang="en-IN" b="1" dirty="0">
              <a:latin typeface="Times New Roman" panose="02020603050405020304" pitchFamily="18" charset="0"/>
              <a:cs typeface="Times New Roman" panose="02020603050405020304" pitchFamily="18" charset="0"/>
            </a:endParaRPr>
          </a:p>
        </p:txBody>
      </p:sp>
      <p:sp>
        <p:nvSpPr>
          <p:cNvPr id="11" name="Rectangle 3">
            <a:extLst>
              <a:ext uri="{FF2B5EF4-FFF2-40B4-BE49-F238E27FC236}">
                <a16:creationId xmlns:a16="http://schemas.microsoft.com/office/drawing/2014/main" id="{839ED014-1CDC-1C3B-AEAF-15C82D7EF813}"/>
              </a:ext>
            </a:extLst>
          </p:cNvPr>
          <p:cNvSpPr>
            <a:spLocks noGrp="1" noChangeArrowheads="1"/>
          </p:cNvSpPr>
          <p:nvPr>
            <p:ph sz="half" idx="1"/>
          </p:nvPr>
        </p:nvSpPr>
        <p:spPr bwMode="auto">
          <a:xfrm>
            <a:off x="326572" y="1975777"/>
            <a:ext cx="5571308" cy="3981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350" dirty="0">
                <a:latin typeface="Times New Roman" panose="02020603050405020304" pitchFamily="18" charset="0"/>
                <a:cs typeface="Times New Roman" panose="02020603050405020304" pitchFamily="18" charset="0"/>
              </a:rPr>
              <a:t>The architecture of the AI-powered Interview Preparation Portal follows a layered MVC (Model-View-Controller) design using Spring Boot, Thymeleaf, MySQL, and the </a:t>
            </a:r>
            <a:r>
              <a:rPr lang="en-US" sz="1350" dirty="0" err="1">
                <a:latin typeface="Times New Roman" panose="02020603050405020304" pitchFamily="18" charset="0"/>
                <a:cs typeface="Times New Roman" panose="02020603050405020304" pitchFamily="18" charset="0"/>
              </a:rPr>
              <a:t>JDoodle</a:t>
            </a:r>
            <a:r>
              <a:rPr lang="en-US" sz="1350" dirty="0">
                <a:latin typeface="Times New Roman" panose="02020603050405020304" pitchFamily="18" charset="0"/>
                <a:cs typeface="Times New Roman" panose="02020603050405020304" pitchFamily="18" charset="0"/>
              </a:rPr>
              <a:t> API for code execution. At the top level, users interact with the application through a browser client, which sends requests to various controllers (`</a:t>
            </a:r>
            <a:r>
              <a:rPr lang="en-US" sz="1350" dirty="0" err="1">
                <a:latin typeface="Times New Roman" panose="02020603050405020304" pitchFamily="18" charset="0"/>
                <a:cs typeface="Times New Roman" panose="02020603050405020304" pitchFamily="18" charset="0"/>
              </a:rPr>
              <a:t>AuthController</a:t>
            </a:r>
            <a:r>
              <a:rPr lang="en-US" sz="1350" dirty="0">
                <a:latin typeface="Times New Roman" panose="02020603050405020304" pitchFamily="18" charset="0"/>
                <a:cs typeface="Times New Roman" panose="02020603050405020304" pitchFamily="18" charset="0"/>
              </a:rPr>
              <a:t>`, `</a:t>
            </a:r>
            <a:r>
              <a:rPr lang="en-US" sz="1350" dirty="0" err="1">
                <a:latin typeface="Times New Roman" panose="02020603050405020304" pitchFamily="18" charset="0"/>
                <a:cs typeface="Times New Roman" panose="02020603050405020304" pitchFamily="18" charset="0"/>
              </a:rPr>
              <a:t>QuestionController</a:t>
            </a:r>
            <a:r>
              <a:rPr lang="en-US" sz="1350" dirty="0">
                <a:latin typeface="Times New Roman" panose="02020603050405020304" pitchFamily="18" charset="0"/>
                <a:cs typeface="Times New Roman" panose="02020603050405020304" pitchFamily="18" charset="0"/>
              </a:rPr>
              <a:t>`, `</a:t>
            </a:r>
            <a:r>
              <a:rPr lang="en-US" sz="1350" dirty="0" err="1">
                <a:latin typeface="Times New Roman" panose="02020603050405020304" pitchFamily="18" charset="0"/>
                <a:cs typeface="Times New Roman" panose="02020603050405020304" pitchFamily="18" charset="0"/>
              </a:rPr>
              <a:t>CodeController</a:t>
            </a:r>
            <a:r>
              <a:rPr lang="en-US" sz="1350" dirty="0">
                <a:latin typeface="Times New Roman" panose="02020603050405020304" pitchFamily="18" charset="0"/>
                <a:cs typeface="Times New Roman" panose="02020603050405020304" pitchFamily="18" charset="0"/>
              </a:rPr>
              <a:t>`, and `</a:t>
            </a:r>
            <a:r>
              <a:rPr lang="en-US" sz="1350" dirty="0" err="1">
                <a:latin typeface="Times New Roman" panose="02020603050405020304" pitchFamily="18" charset="0"/>
                <a:cs typeface="Times New Roman" panose="02020603050405020304" pitchFamily="18" charset="0"/>
              </a:rPr>
              <a:t>SubmissionsController</a:t>
            </a:r>
            <a:r>
              <a:rPr lang="en-US" sz="1350" dirty="0">
                <a:latin typeface="Times New Roman" panose="02020603050405020304" pitchFamily="18" charset="0"/>
                <a:cs typeface="Times New Roman" panose="02020603050405020304" pitchFamily="18" charset="0"/>
              </a:rPr>
              <a:t>`). These controllers handle navigation and core functionalities such as user authentication, question management, code execution, and viewing submission history. </a:t>
            </a:r>
          </a:p>
          <a:p>
            <a:pPr algn="just"/>
            <a:r>
              <a:rPr lang="en-US" sz="1350" dirty="0">
                <a:latin typeface="Times New Roman" panose="02020603050405020304" pitchFamily="18" charset="0"/>
                <a:cs typeface="Times New Roman" panose="02020603050405020304" pitchFamily="18" charset="0"/>
              </a:rPr>
              <a:t>The views are rendered using Thymeleaf templates like `login.html`, `dashboard.html`, `code-editor.html`, and others. Business logic is encapsulated in service classes (`</a:t>
            </a:r>
            <a:r>
              <a:rPr lang="en-US" sz="1350" dirty="0" err="1">
                <a:latin typeface="Times New Roman" panose="02020603050405020304" pitchFamily="18" charset="0"/>
                <a:cs typeface="Times New Roman" panose="02020603050405020304" pitchFamily="18" charset="0"/>
              </a:rPr>
              <a:t>UserService</a:t>
            </a:r>
            <a:r>
              <a:rPr lang="en-US" sz="1350" dirty="0">
                <a:latin typeface="Times New Roman" panose="02020603050405020304" pitchFamily="18" charset="0"/>
                <a:cs typeface="Times New Roman" panose="02020603050405020304" pitchFamily="18" charset="0"/>
              </a:rPr>
              <a:t>` and `</a:t>
            </a:r>
            <a:r>
              <a:rPr lang="en-US" sz="1350" dirty="0" err="1">
                <a:latin typeface="Times New Roman" panose="02020603050405020304" pitchFamily="18" charset="0"/>
                <a:cs typeface="Times New Roman" panose="02020603050405020304" pitchFamily="18" charset="0"/>
              </a:rPr>
              <a:t>CodeExecutionService</a:t>
            </a:r>
            <a:r>
              <a:rPr lang="en-US" sz="1350" dirty="0">
                <a:latin typeface="Times New Roman" panose="02020603050405020304" pitchFamily="18" charset="0"/>
                <a:cs typeface="Times New Roman" panose="02020603050405020304" pitchFamily="18" charset="0"/>
              </a:rPr>
              <a:t>`), which coordinate with the repositories (`</a:t>
            </a:r>
            <a:r>
              <a:rPr lang="en-US" sz="1350" dirty="0" err="1">
                <a:latin typeface="Times New Roman" panose="02020603050405020304" pitchFamily="18" charset="0"/>
                <a:cs typeface="Times New Roman" panose="02020603050405020304" pitchFamily="18" charset="0"/>
              </a:rPr>
              <a:t>UserRepository</a:t>
            </a:r>
            <a:r>
              <a:rPr lang="en-US" sz="1350" dirty="0">
                <a:latin typeface="Times New Roman" panose="02020603050405020304" pitchFamily="18" charset="0"/>
                <a:cs typeface="Times New Roman" panose="02020603050405020304" pitchFamily="18" charset="0"/>
              </a:rPr>
              <a:t>`, `</a:t>
            </a:r>
            <a:r>
              <a:rPr lang="en-US" sz="1350" dirty="0" err="1">
                <a:latin typeface="Times New Roman" panose="02020603050405020304" pitchFamily="18" charset="0"/>
                <a:cs typeface="Times New Roman" panose="02020603050405020304" pitchFamily="18" charset="0"/>
              </a:rPr>
              <a:t>QuestionRepository</a:t>
            </a:r>
            <a:r>
              <a:rPr lang="en-US" sz="1350" dirty="0">
                <a:latin typeface="Times New Roman" panose="02020603050405020304" pitchFamily="18" charset="0"/>
                <a:cs typeface="Times New Roman" panose="02020603050405020304" pitchFamily="18" charset="0"/>
              </a:rPr>
              <a:t>`, and `</a:t>
            </a:r>
            <a:r>
              <a:rPr lang="en-US" sz="1350" dirty="0" err="1">
                <a:latin typeface="Times New Roman" panose="02020603050405020304" pitchFamily="18" charset="0"/>
                <a:cs typeface="Times New Roman" panose="02020603050405020304" pitchFamily="18" charset="0"/>
              </a:rPr>
              <a:t>SubmissionRepository</a:t>
            </a:r>
            <a:r>
              <a:rPr lang="en-US" sz="1350" dirty="0">
                <a:latin typeface="Times New Roman" panose="02020603050405020304" pitchFamily="18" charset="0"/>
                <a:cs typeface="Times New Roman" panose="02020603050405020304" pitchFamily="18" charset="0"/>
              </a:rPr>
              <a:t>`) to interact with the database entities (`User`, `Question`, and `Submission`). The system also integrates with the external </a:t>
            </a:r>
            <a:r>
              <a:rPr lang="en-US" sz="1350" dirty="0" err="1">
                <a:latin typeface="Times New Roman" panose="02020603050405020304" pitchFamily="18" charset="0"/>
                <a:cs typeface="Times New Roman" panose="02020603050405020304" pitchFamily="18" charset="0"/>
              </a:rPr>
              <a:t>JDoodle</a:t>
            </a:r>
            <a:r>
              <a:rPr lang="en-US" sz="1350" dirty="0">
                <a:latin typeface="Times New Roman" panose="02020603050405020304" pitchFamily="18" charset="0"/>
                <a:cs typeface="Times New Roman" panose="02020603050405020304" pitchFamily="18" charset="0"/>
              </a:rPr>
              <a:t> API to compile and execute user-submitted code in real-time, making it a fully functional platform for technical interview preparation.</a:t>
            </a:r>
          </a:p>
        </p:txBody>
      </p:sp>
      <p:pic>
        <p:nvPicPr>
          <p:cNvPr id="6" name="Content Placeholder 5">
            <a:extLst>
              <a:ext uri="{FF2B5EF4-FFF2-40B4-BE49-F238E27FC236}">
                <a16:creationId xmlns:a16="http://schemas.microsoft.com/office/drawing/2014/main" id="{FCE57259-2DDF-782F-16D4-00F9870A5CB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26163" y="2300748"/>
            <a:ext cx="4481512" cy="3421626"/>
          </a:xfrm>
        </p:spPr>
      </p:pic>
    </p:spTree>
    <p:extLst>
      <p:ext uri="{BB962C8B-B14F-4D97-AF65-F5344CB8AC3E}">
        <p14:creationId xmlns:p14="http://schemas.microsoft.com/office/powerpoint/2010/main" val="1557113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4B88E-0E35-51CA-C7E3-79A0E2F7807D}"/>
              </a:ext>
            </a:extLst>
          </p:cNvPr>
          <p:cNvSpPr>
            <a:spLocks noGrp="1"/>
          </p:cNvSpPr>
          <p:nvPr>
            <p:ph type="title"/>
          </p:nvPr>
        </p:nvSpPr>
        <p:spPr/>
        <p:txBody>
          <a:bodyPr anchor="ctr"/>
          <a:lstStyle/>
          <a:p>
            <a:pPr algn="ctr">
              <a:lnSpc>
                <a:spcPct val="150000"/>
              </a:lnSpc>
            </a:pPr>
            <a:r>
              <a:rPr lang="en-US" sz="3200" b="1" dirty="0">
                <a:latin typeface="Times New Roman" panose="02020603050405020304" pitchFamily="18" charset="0"/>
                <a:cs typeface="Times New Roman" panose="02020603050405020304" pitchFamily="18" charset="0"/>
              </a:rPr>
              <a:t>FLOW CHART</a:t>
            </a:r>
            <a:endParaRPr lang="en-IN"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2B84D074-7A09-9E66-5290-B46914438B0F}"/>
              </a:ext>
            </a:extLst>
          </p:cNvPr>
          <p:cNvSpPr>
            <a:spLocks noGrp="1"/>
          </p:cNvSpPr>
          <p:nvPr>
            <p:ph sz="half" idx="2"/>
          </p:nvPr>
        </p:nvSpPr>
        <p:spPr/>
        <p:txBody>
          <a:bodyPr>
            <a:noAutofit/>
          </a:bodyPr>
          <a:lstStyle/>
          <a:p>
            <a:pPr algn="just"/>
            <a:r>
              <a:rPr lang="en-US" sz="1350" dirty="0">
                <a:latin typeface="Times New Roman" panose="02020603050405020304" pitchFamily="18" charset="0"/>
                <a:cs typeface="Times New Roman" panose="02020603050405020304" pitchFamily="18" charset="0"/>
              </a:rPr>
              <a:t>The flowchart illustrates the internal architecture of the AI-Powered Interview Preparation Portal, highlighting the interaction between controllers, services, repositories, and entities in a Spring Boot application. Controllers like `</a:t>
            </a:r>
            <a:r>
              <a:rPr lang="en-US" sz="1350" dirty="0" err="1">
                <a:latin typeface="Times New Roman" panose="02020603050405020304" pitchFamily="18" charset="0"/>
                <a:cs typeface="Times New Roman" panose="02020603050405020304" pitchFamily="18" charset="0"/>
              </a:rPr>
              <a:t>AuthController</a:t>
            </a:r>
            <a:r>
              <a:rPr lang="en-US" sz="1350" dirty="0">
                <a:latin typeface="Times New Roman" panose="02020603050405020304" pitchFamily="18" charset="0"/>
                <a:cs typeface="Times New Roman" panose="02020603050405020304" pitchFamily="18" charset="0"/>
              </a:rPr>
              <a:t>`, `</a:t>
            </a:r>
            <a:r>
              <a:rPr lang="en-US" sz="1350" dirty="0" err="1">
                <a:latin typeface="Times New Roman" panose="02020603050405020304" pitchFamily="18" charset="0"/>
                <a:cs typeface="Times New Roman" panose="02020603050405020304" pitchFamily="18" charset="0"/>
              </a:rPr>
              <a:t>QuestionController</a:t>
            </a:r>
            <a:r>
              <a:rPr lang="en-US" sz="1350" dirty="0">
                <a:latin typeface="Times New Roman" panose="02020603050405020304" pitchFamily="18" charset="0"/>
                <a:cs typeface="Times New Roman" panose="02020603050405020304" pitchFamily="18" charset="0"/>
              </a:rPr>
              <a:t>`, `</a:t>
            </a:r>
            <a:r>
              <a:rPr lang="en-US" sz="1350" dirty="0" err="1">
                <a:latin typeface="Times New Roman" panose="02020603050405020304" pitchFamily="18" charset="0"/>
                <a:cs typeface="Times New Roman" panose="02020603050405020304" pitchFamily="18" charset="0"/>
              </a:rPr>
              <a:t>CodeController</a:t>
            </a:r>
            <a:r>
              <a:rPr lang="en-US" sz="1350" dirty="0">
                <a:latin typeface="Times New Roman" panose="02020603050405020304" pitchFamily="18" charset="0"/>
                <a:cs typeface="Times New Roman" panose="02020603050405020304" pitchFamily="18" charset="0"/>
              </a:rPr>
              <a:t>`, and `</a:t>
            </a:r>
            <a:r>
              <a:rPr lang="en-US" sz="1350" dirty="0" err="1">
                <a:latin typeface="Times New Roman" panose="02020603050405020304" pitchFamily="18" charset="0"/>
                <a:cs typeface="Times New Roman" panose="02020603050405020304" pitchFamily="18" charset="0"/>
              </a:rPr>
              <a:t>SubmissionsController</a:t>
            </a:r>
            <a:r>
              <a:rPr lang="en-US" sz="1350" dirty="0">
                <a:latin typeface="Times New Roman" panose="02020603050405020304" pitchFamily="18" charset="0"/>
                <a:cs typeface="Times New Roman" panose="02020603050405020304" pitchFamily="18" charset="0"/>
              </a:rPr>
              <a:t>` manage user authentication, question display, code execution, and submission history. These controllers interact with service classes such as `</a:t>
            </a:r>
            <a:r>
              <a:rPr lang="en-US" sz="1350" dirty="0" err="1">
                <a:latin typeface="Times New Roman" panose="02020603050405020304" pitchFamily="18" charset="0"/>
                <a:cs typeface="Times New Roman" panose="02020603050405020304" pitchFamily="18" charset="0"/>
              </a:rPr>
              <a:t>UserServiceImpl</a:t>
            </a:r>
            <a:r>
              <a:rPr lang="en-US" sz="1350" dirty="0">
                <a:latin typeface="Times New Roman" panose="02020603050405020304" pitchFamily="18" charset="0"/>
                <a:cs typeface="Times New Roman" panose="02020603050405020304" pitchFamily="18" charset="0"/>
              </a:rPr>
              <a:t>` and `</a:t>
            </a:r>
            <a:r>
              <a:rPr lang="en-US" sz="1350" dirty="0" err="1">
                <a:latin typeface="Times New Roman" panose="02020603050405020304" pitchFamily="18" charset="0"/>
                <a:cs typeface="Times New Roman" panose="02020603050405020304" pitchFamily="18" charset="0"/>
              </a:rPr>
              <a:t>CodeExecutionServiceImpl</a:t>
            </a:r>
            <a:r>
              <a:rPr lang="en-US" sz="1350" dirty="0">
                <a:latin typeface="Times New Roman" panose="02020603050405020304" pitchFamily="18" charset="0"/>
                <a:cs typeface="Times New Roman" panose="02020603050405020304" pitchFamily="18" charset="0"/>
              </a:rPr>
              <a:t>`, which implement business logic for user management and external code execution via an API (e.g., </a:t>
            </a:r>
            <a:r>
              <a:rPr lang="en-US" sz="1350" dirty="0" err="1">
                <a:latin typeface="Times New Roman" panose="02020603050405020304" pitchFamily="18" charset="0"/>
                <a:cs typeface="Times New Roman" panose="02020603050405020304" pitchFamily="18" charset="0"/>
              </a:rPr>
              <a:t>JDoodle</a:t>
            </a:r>
            <a:r>
              <a:rPr lang="en-US" sz="1350" dirty="0">
                <a:latin typeface="Times New Roman" panose="02020603050405020304" pitchFamily="18" charset="0"/>
                <a:cs typeface="Times New Roman" panose="02020603050405020304" pitchFamily="18" charset="0"/>
              </a:rPr>
              <a:t>).</a:t>
            </a:r>
          </a:p>
          <a:p>
            <a:pPr algn="just"/>
            <a:r>
              <a:rPr lang="en-US" sz="1350" dirty="0">
                <a:latin typeface="Times New Roman" panose="02020603050405020304" pitchFamily="18" charset="0"/>
                <a:cs typeface="Times New Roman" panose="02020603050405020304" pitchFamily="18" charset="0"/>
              </a:rPr>
              <a:t> Repositories like `</a:t>
            </a:r>
            <a:r>
              <a:rPr lang="en-US" sz="1350" dirty="0" err="1">
                <a:latin typeface="Times New Roman" panose="02020603050405020304" pitchFamily="18" charset="0"/>
                <a:cs typeface="Times New Roman" panose="02020603050405020304" pitchFamily="18" charset="0"/>
              </a:rPr>
              <a:t>UserRepository</a:t>
            </a:r>
            <a:r>
              <a:rPr lang="en-US" sz="1350" dirty="0">
                <a:latin typeface="Times New Roman" panose="02020603050405020304" pitchFamily="18" charset="0"/>
                <a:cs typeface="Times New Roman" panose="02020603050405020304" pitchFamily="18" charset="0"/>
              </a:rPr>
              <a:t>`, `</a:t>
            </a:r>
            <a:r>
              <a:rPr lang="en-US" sz="1350" dirty="0" err="1">
                <a:latin typeface="Times New Roman" panose="02020603050405020304" pitchFamily="18" charset="0"/>
                <a:cs typeface="Times New Roman" panose="02020603050405020304" pitchFamily="18" charset="0"/>
              </a:rPr>
              <a:t>QuestionRepository</a:t>
            </a:r>
            <a:r>
              <a:rPr lang="en-US" sz="1350" dirty="0">
                <a:latin typeface="Times New Roman" panose="02020603050405020304" pitchFamily="18" charset="0"/>
                <a:cs typeface="Times New Roman" panose="02020603050405020304" pitchFamily="18" charset="0"/>
              </a:rPr>
              <a:t>`, and `</a:t>
            </a:r>
            <a:r>
              <a:rPr lang="en-US" sz="1350" dirty="0" err="1">
                <a:latin typeface="Times New Roman" panose="02020603050405020304" pitchFamily="18" charset="0"/>
                <a:cs typeface="Times New Roman" panose="02020603050405020304" pitchFamily="18" charset="0"/>
              </a:rPr>
              <a:t>SubmissionRepository</a:t>
            </a:r>
            <a:r>
              <a:rPr lang="en-US" sz="1350" dirty="0">
                <a:latin typeface="Times New Roman" panose="02020603050405020304" pitchFamily="18" charset="0"/>
                <a:cs typeface="Times New Roman" panose="02020603050405020304" pitchFamily="18" charset="0"/>
              </a:rPr>
              <a:t>` provide access to the database entities `User`, `Question`, and `Submission`, storing key data such as user credentials, coding questions, and submitted code. The `</a:t>
            </a:r>
            <a:r>
              <a:rPr lang="en-US" sz="1350" dirty="0" err="1">
                <a:latin typeface="Times New Roman" panose="02020603050405020304" pitchFamily="18" charset="0"/>
                <a:cs typeface="Times New Roman" panose="02020603050405020304" pitchFamily="18" charset="0"/>
              </a:rPr>
              <a:t>SecurityConfig</a:t>
            </a:r>
            <a:r>
              <a:rPr lang="en-US" sz="1350" dirty="0">
                <a:latin typeface="Times New Roman" panose="02020603050405020304" pitchFamily="18" charset="0"/>
                <a:cs typeface="Times New Roman" panose="02020603050405020304" pitchFamily="18" charset="0"/>
              </a:rPr>
              <a:t>` class configures user authentication and authorization, ensuring secure access throughout the application. Together, these components form a modular and well-organized structure that supports real-time code practice, submission tracking, and secure user interaction</a:t>
            </a:r>
            <a:r>
              <a:rPr lang="en-US" sz="1350" dirty="0"/>
              <a:t>.</a:t>
            </a:r>
            <a:endParaRPr lang="en-IN" sz="1350" dirty="0"/>
          </a:p>
        </p:txBody>
      </p:sp>
      <p:pic>
        <p:nvPicPr>
          <p:cNvPr id="6" name="Content Placeholder 5">
            <a:extLst>
              <a:ext uri="{FF2B5EF4-FFF2-40B4-BE49-F238E27FC236}">
                <a16:creationId xmlns:a16="http://schemas.microsoft.com/office/drawing/2014/main" id="{C20FF719-9C05-181A-5638-EF263F8C88B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75916" y="1828800"/>
            <a:ext cx="4052218" cy="4351338"/>
          </a:xfrm>
        </p:spPr>
      </p:pic>
    </p:spTree>
    <p:extLst>
      <p:ext uri="{BB962C8B-B14F-4D97-AF65-F5344CB8AC3E}">
        <p14:creationId xmlns:p14="http://schemas.microsoft.com/office/powerpoint/2010/main" val="3175980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7">
            <a:extLst>
              <a:ext uri="{FF2B5EF4-FFF2-40B4-BE49-F238E27FC236}">
                <a16:creationId xmlns:a16="http://schemas.microsoft.com/office/drawing/2014/main" id="{64C38F57-1B57-CE6C-1B35-AE460806D584}"/>
              </a:ext>
            </a:extLst>
          </p:cNvPr>
          <p:cNvSpPr>
            <a:spLocks noChangeArrowheads="1"/>
          </p:cNvSpPr>
          <p:nvPr/>
        </p:nvSpPr>
        <p:spPr bwMode="auto">
          <a:xfrm rot="10800000" flipV="1">
            <a:off x="4571999" y="1521002"/>
            <a:ext cx="6555723" cy="3208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class diagram represents the structural design of a Spring Boot-based AI Interview Preparation Portal by showcasing the relationships between controllers, services, repositories, and entity classes. The `</a:t>
            </a:r>
            <a:r>
              <a:rPr kumimoji="0" lang="en-US" altLang="en-US" sz="135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AuthController</a:t>
            </a:r>
            <a:r>
              <a:rPr kumimoji="0" lang="en-US" altLang="en-US" sz="13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handles user authentication and registration by utilizing the `</a:t>
            </a:r>
            <a:r>
              <a:rPr kumimoji="0" lang="en-US" altLang="en-US" sz="135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UserService</a:t>
            </a:r>
            <a:r>
              <a:rPr kumimoji="0" lang="en-US" altLang="en-US" sz="13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manages the `User` entity containing attributes like username, password, and email. The `</a:t>
            </a:r>
            <a:r>
              <a:rPr kumimoji="0" lang="en-US" altLang="en-US" sz="135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QuestionController</a:t>
            </a:r>
            <a:r>
              <a:rPr kumimoji="0" lang="en-US" altLang="en-US" sz="13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responsible for displaying questions based on category, using the `</a:t>
            </a:r>
            <a:r>
              <a:rPr kumimoji="0" lang="en-US" altLang="en-US" sz="135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QuestionRepository</a:t>
            </a:r>
            <a:r>
              <a:rPr kumimoji="0" lang="en-US" altLang="en-US" sz="13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access the `Question` entity, which holds question-related data such as category, text, and difficulty. The `</a:t>
            </a:r>
            <a:r>
              <a:rPr kumimoji="0" lang="en-US" altLang="en-US" sz="135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CodeController</a:t>
            </a:r>
            <a:r>
              <a:rPr kumimoji="0" lang="en-US" altLang="en-US" sz="13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facilitates code submission and uses the `</a:t>
            </a:r>
            <a:r>
              <a:rPr kumimoji="0" lang="en-US" altLang="en-US" sz="135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SubmissionRepository</a:t>
            </a:r>
            <a:r>
              <a:rPr kumimoji="0" lang="en-US" altLang="en-US" sz="13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store user submissions, represented by the `Submission` entity that includes details like username, submitted question, code, output, and timestamp. The `</a:t>
            </a:r>
            <a:r>
              <a:rPr kumimoji="0" lang="en-US" altLang="en-US" sz="135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SubmissionsController</a:t>
            </a:r>
            <a:r>
              <a:rPr kumimoji="0" lang="en-US" altLang="en-US" sz="13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users to view their past code submissions by querying `</a:t>
            </a:r>
            <a:r>
              <a:rPr kumimoji="0" lang="en-US" altLang="en-US" sz="135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SubmissionRepository</a:t>
            </a:r>
            <a:r>
              <a:rPr kumimoji="0" lang="en-US" altLang="en-US" sz="13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the username. Each repository is defined as an interface that connects to its respective entity and allows database interaction, while the controllers serve as intermediaries between the user interface and backend logic. This structure follows a clean separation of concerns, improving maintainability and scalability..</a:t>
            </a:r>
          </a:p>
        </p:txBody>
      </p:sp>
      <p:sp>
        <p:nvSpPr>
          <p:cNvPr id="15" name="TextBox 14">
            <a:extLst>
              <a:ext uri="{FF2B5EF4-FFF2-40B4-BE49-F238E27FC236}">
                <a16:creationId xmlns:a16="http://schemas.microsoft.com/office/drawing/2014/main" id="{22834846-7424-F5B9-56AE-78B8031A0D4E}"/>
              </a:ext>
            </a:extLst>
          </p:cNvPr>
          <p:cNvSpPr txBox="1"/>
          <p:nvPr/>
        </p:nvSpPr>
        <p:spPr>
          <a:xfrm>
            <a:off x="3695705" y="414049"/>
            <a:ext cx="6101442"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CLASS DIAGRAM</a:t>
            </a:r>
            <a:endParaRPr lang="en-IN" sz="2800" dirty="0"/>
          </a:p>
        </p:txBody>
      </p:sp>
      <p:pic>
        <p:nvPicPr>
          <p:cNvPr id="7" name="Content Placeholder 6">
            <a:extLst>
              <a:ext uri="{FF2B5EF4-FFF2-40B4-BE49-F238E27FC236}">
                <a16:creationId xmlns:a16="http://schemas.microsoft.com/office/drawing/2014/main" id="{B04EBBA1-2407-3577-9D0B-14DACABC4F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flipH="1">
            <a:off x="373063" y="717755"/>
            <a:ext cx="3600450" cy="4669690"/>
          </a:xfrm>
        </p:spPr>
      </p:pic>
    </p:spTree>
    <p:extLst>
      <p:ext uri="{BB962C8B-B14F-4D97-AF65-F5344CB8AC3E}">
        <p14:creationId xmlns:p14="http://schemas.microsoft.com/office/powerpoint/2010/main" val="3306264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BDF71-AA1E-38C2-CF3E-CD377C823A97}"/>
              </a:ext>
            </a:extLst>
          </p:cNvPr>
          <p:cNvSpPr>
            <a:spLocks noGrp="1"/>
          </p:cNvSpPr>
          <p:nvPr>
            <p:ph type="title"/>
          </p:nvPr>
        </p:nvSpPr>
        <p:spPr>
          <a:xfrm>
            <a:off x="841248" y="850055"/>
            <a:ext cx="3200400" cy="528321"/>
          </a:xfrm>
        </p:spPr>
        <p:txBody>
          <a:bodyPr>
            <a:normAutofit fontScale="90000"/>
          </a:bodyPr>
          <a:lstStyle/>
          <a:p>
            <a:r>
              <a:rPr lang="en-US" dirty="0"/>
              <a:t>LOGIN PAGE</a:t>
            </a:r>
            <a:endParaRPr lang="en-IN" dirty="0"/>
          </a:p>
        </p:txBody>
      </p:sp>
      <p:pic>
        <p:nvPicPr>
          <p:cNvPr id="6" name="Content Placeholder 5">
            <a:extLst>
              <a:ext uri="{FF2B5EF4-FFF2-40B4-BE49-F238E27FC236}">
                <a16:creationId xmlns:a16="http://schemas.microsoft.com/office/drawing/2014/main" id="{7C4E0F2F-0040-DBB4-B270-F9FD4AC484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27258" y="1517227"/>
            <a:ext cx="6080125" cy="4531359"/>
          </a:xfrm>
          <a:prstGeom prst="rect">
            <a:avLst/>
          </a:prstGeom>
        </p:spPr>
      </p:pic>
      <p:sp>
        <p:nvSpPr>
          <p:cNvPr id="4" name="Text Placeholder 3">
            <a:extLst>
              <a:ext uri="{FF2B5EF4-FFF2-40B4-BE49-F238E27FC236}">
                <a16:creationId xmlns:a16="http://schemas.microsoft.com/office/drawing/2014/main" id="{51559C42-B3D7-6FD4-3283-0428F450F2DE}"/>
              </a:ext>
            </a:extLst>
          </p:cNvPr>
          <p:cNvSpPr>
            <a:spLocks noGrp="1"/>
          </p:cNvSpPr>
          <p:nvPr>
            <p:ph type="body" sz="half" idx="2"/>
          </p:nvPr>
        </p:nvSpPr>
        <p:spPr>
          <a:xfrm>
            <a:off x="841248" y="1656080"/>
            <a:ext cx="3200400" cy="4253655"/>
          </a:xfrm>
        </p:spPr>
        <p:txBody>
          <a:bodyPr>
            <a:noAutofit/>
          </a:bodyPr>
          <a:lstStyle/>
          <a:p>
            <a:r>
              <a:rPr lang="en-US" sz="1350" dirty="0">
                <a:latin typeface="Times New Roman" panose="02020603050405020304" pitchFamily="18" charset="0"/>
                <a:cs typeface="Times New Roman" panose="02020603050405020304" pitchFamily="18" charset="0"/>
              </a:rPr>
              <a:t>This page is a </a:t>
            </a:r>
            <a:r>
              <a:rPr lang="en-US" sz="1350" b="1" dirty="0">
                <a:latin typeface="Times New Roman" panose="02020603050405020304" pitchFamily="18" charset="0"/>
                <a:cs typeface="Times New Roman" panose="02020603050405020304" pitchFamily="18" charset="0"/>
              </a:rPr>
              <a:t>login interface</a:t>
            </a:r>
            <a:r>
              <a:rPr lang="en-US" sz="1350" dirty="0">
                <a:latin typeface="Times New Roman" panose="02020603050405020304" pitchFamily="18" charset="0"/>
                <a:cs typeface="Times New Roman" panose="02020603050405020304" pitchFamily="18" charset="0"/>
              </a:rPr>
              <a:t> for a web application titled </a:t>
            </a:r>
            <a:r>
              <a:rPr lang="en-US" sz="1350" i="1" dirty="0">
                <a:latin typeface="Times New Roman" panose="02020603050405020304" pitchFamily="18" charset="0"/>
                <a:cs typeface="Times New Roman" panose="02020603050405020304" pitchFamily="18" charset="0"/>
              </a:rPr>
              <a:t>AI Interview Preparation</a:t>
            </a:r>
            <a:r>
              <a:rPr lang="en-US" sz="1350" dirty="0">
                <a:latin typeface="Times New Roman" panose="02020603050405020304" pitchFamily="18" charset="0"/>
                <a:cs typeface="Times New Roman" panose="02020603050405020304" pitchFamily="18" charset="0"/>
              </a:rPr>
              <a:t>. It has a </a:t>
            </a:r>
            <a:r>
              <a:rPr lang="en-US" sz="1350" b="1" dirty="0">
                <a:latin typeface="Times New Roman" panose="02020603050405020304" pitchFamily="18" charset="0"/>
                <a:cs typeface="Times New Roman" panose="02020603050405020304" pitchFamily="18" charset="0"/>
              </a:rPr>
              <a:t>dark-themed design</a:t>
            </a:r>
            <a:r>
              <a:rPr lang="en-US" sz="1350" dirty="0">
                <a:latin typeface="Times New Roman" panose="02020603050405020304" pitchFamily="18" charset="0"/>
                <a:cs typeface="Times New Roman" panose="02020603050405020304" pitchFamily="18" charset="0"/>
              </a:rPr>
              <a:t> with a centered login form.</a:t>
            </a:r>
          </a:p>
          <a:p>
            <a:r>
              <a:rPr lang="en-US" sz="1350" dirty="0">
                <a:latin typeface="Times New Roman" panose="02020603050405020304" pitchFamily="18" charset="0"/>
                <a:cs typeface="Times New Roman" panose="02020603050405020304" pitchFamily="18" charset="0"/>
              </a:rPr>
              <a:t>Here are the key elements:</a:t>
            </a:r>
          </a:p>
          <a:p>
            <a:r>
              <a:rPr lang="en-US" sz="1350" b="1" dirty="0">
                <a:latin typeface="Times New Roman" panose="02020603050405020304" pitchFamily="18" charset="0"/>
                <a:cs typeface="Times New Roman" panose="02020603050405020304" pitchFamily="18" charset="0"/>
              </a:rPr>
              <a:t>Title/Header:</a:t>
            </a:r>
            <a:r>
              <a:rPr lang="en-US" sz="1350" dirty="0">
                <a:latin typeface="Times New Roman" panose="02020603050405020304" pitchFamily="18" charset="0"/>
                <a:cs typeface="Times New Roman" panose="02020603050405020304" pitchFamily="18" charset="0"/>
              </a:rPr>
              <a:t> "AI Interview Preparation" with the subtitle </a:t>
            </a:r>
            <a:r>
              <a:rPr lang="en-US" sz="1350" i="1" dirty="0">
                <a:latin typeface="Times New Roman" panose="02020603050405020304" pitchFamily="18" charset="0"/>
                <a:cs typeface="Times New Roman" panose="02020603050405020304" pitchFamily="18" charset="0"/>
              </a:rPr>
              <a:t>Sign in to continue</a:t>
            </a:r>
            <a:r>
              <a:rPr lang="en-US" sz="1350" dirty="0">
                <a:latin typeface="Times New Roman" panose="02020603050405020304" pitchFamily="18" charset="0"/>
                <a:cs typeface="Times New Roman" panose="02020603050405020304" pitchFamily="18" charset="0"/>
              </a:rPr>
              <a:t>.</a:t>
            </a:r>
          </a:p>
          <a:p>
            <a:r>
              <a:rPr lang="en-US" sz="1350" b="1" dirty="0">
                <a:latin typeface="Times New Roman" panose="02020603050405020304" pitchFamily="18" charset="0"/>
                <a:cs typeface="Times New Roman" panose="02020603050405020304" pitchFamily="18" charset="0"/>
              </a:rPr>
              <a:t>Form Fields:</a:t>
            </a:r>
            <a:endParaRPr lang="en-US" sz="1350" dirty="0">
              <a:latin typeface="Times New Roman" panose="02020603050405020304" pitchFamily="18" charset="0"/>
              <a:cs typeface="Times New Roman" panose="02020603050405020304" pitchFamily="18" charset="0"/>
            </a:endParaRPr>
          </a:p>
          <a:p>
            <a:pPr lvl="1"/>
            <a:r>
              <a:rPr lang="en-US" sz="1350" i="1" dirty="0">
                <a:latin typeface="Times New Roman" panose="02020603050405020304" pitchFamily="18" charset="0"/>
                <a:cs typeface="Times New Roman" panose="02020603050405020304" pitchFamily="18" charset="0"/>
              </a:rPr>
              <a:t>Email</a:t>
            </a:r>
            <a:r>
              <a:rPr lang="en-US" sz="1350" dirty="0">
                <a:latin typeface="Times New Roman" panose="02020603050405020304" pitchFamily="18" charset="0"/>
                <a:cs typeface="Times New Roman" panose="02020603050405020304" pitchFamily="18" charset="0"/>
              </a:rPr>
              <a:t> field (placeholder: you@example.com)</a:t>
            </a:r>
          </a:p>
          <a:p>
            <a:pPr lvl="1"/>
            <a:r>
              <a:rPr lang="en-US" sz="1350" i="1" dirty="0">
                <a:latin typeface="Times New Roman" panose="02020603050405020304" pitchFamily="18" charset="0"/>
                <a:cs typeface="Times New Roman" panose="02020603050405020304" pitchFamily="18" charset="0"/>
              </a:rPr>
              <a:t>Password</a:t>
            </a:r>
            <a:r>
              <a:rPr lang="en-US" sz="1350" dirty="0">
                <a:latin typeface="Times New Roman" panose="02020603050405020304" pitchFamily="18" charset="0"/>
                <a:cs typeface="Times New Roman" panose="02020603050405020304" pitchFamily="18" charset="0"/>
              </a:rPr>
              <a:t> field (hidden input with dots/asterisks)</a:t>
            </a:r>
          </a:p>
          <a:p>
            <a:r>
              <a:rPr lang="en-US" sz="1350" b="1" dirty="0">
                <a:latin typeface="Times New Roman" panose="02020603050405020304" pitchFamily="18" charset="0"/>
                <a:cs typeface="Times New Roman" panose="02020603050405020304" pitchFamily="18" charset="0"/>
              </a:rPr>
              <a:t>Action Button:</a:t>
            </a:r>
            <a:r>
              <a:rPr lang="en-US" sz="1350" dirty="0">
                <a:latin typeface="Times New Roman" panose="02020603050405020304" pitchFamily="18" charset="0"/>
                <a:cs typeface="Times New Roman" panose="02020603050405020304" pitchFamily="18" charset="0"/>
              </a:rPr>
              <a:t> A blue </a:t>
            </a:r>
            <a:r>
              <a:rPr lang="en-US" sz="1350" b="1" dirty="0">
                <a:latin typeface="Times New Roman" panose="02020603050405020304" pitchFamily="18" charset="0"/>
                <a:cs typeface="Times New Roman" panose="02020603050405020304" pitchFamily="18" charset="0"/>
              </a:rPr>
              <a:t>"Sign in"</a:t>
            </a:r>
            <a:r>
              <a:rPr lang="en-US" sz="1350" dirty="0">
                <a:latin typeface="Times New Roman" panose="02020603050405020304" pitchFamily="18" charset="0"/>
                <a:cs typeface="Times New Roman" panose="02020603050405020304" pitchFamily="18" charset="0"/>
              </a:rPr>
              <a:t> button.</a:t>
            </a:r>
          </a:p>
          <a:p>
            <a:r>
              <a:rPr lang="en-US" sz="1350" b="1" dirty="0">
                <a:latin typeface="Times New Roman" panose="02020603050405020304" pitchFamily="18" charset="0"/>
                <a:cs typeface="Times New Roman" panose="02020603050405020304" pitchFamily="18" charset="0"/>
              </a:rPr>
              <a:t>Additional Link:</a:t>
            </a:r>
            <a:r>
              <a:rPr lang="en-US" sz="1350" dirty="0">
                <a:latin typeface="Times New Roman" panose="02020603050405020304" pitchFamily="18" charset="0"/>
                <a:cs typeface="Times New Roman" panose="02020603050405020304" pitchFamily="18" charset="0"/>
              </a:rPr>
              <a:t> Below the form, there’s a prompt </a:t>
            </a:r>
            <a:r>
              <a:rPr lang="en-US" sz="1350" i="1" dirty="0">
                <a:latin typeface="Times New Roman" panose="02020603050405020304" pitchFamily="18" charset="0"/>
                <a:cs typeface="Times New Roman" panose="02020603050405020304" pitchFamily="18" charset="0"/>
              </a:rPr>
              <a:t>"Don't have an account? Register"</a:t>
            </a:r>
            <a:r>
              <a:rPr lang="en-US" sz="1350" dirty="0">
                <a:latin typeface="Times New Roman" panose="02020603050405020304" pitchFamily="18" charset="0"/>
                <a:cs typeface="Times New Roman" panose="02020603050405020304" pitchFamily="18" charset="0"/>
              </a:rPr>
              <a:t> that directs new users to a registration page.</a:t>
            </a:r>
          </a:p>
          <a:p>
            <a:endParaRPr lang="en-IN" sz="13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5123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D3C5F1A-E228-09E9-ADE6-FD358CABD97E}"/>
              </a:ext>
            </a:extLst>
          </p:cNvPr>
          <p:cNvSpPr>
            <a:spLocks noGrp="1"/>
          </p:cNvSpPr>
          <p:nvPr>
            <p:ph sz="half" idx="2"/>
          </p:nvPr>
        </p:nvSpPr>
        <p:spPr>
          <a:xfrm>
            <a:off x="6096000" y="1263400"/>
            <a:ext cx="4480560" cy="4331199"/>
          </a:xfrm>
        </p:spPr>
        <p:txBody>
          <a:bodyPr>
            <a:normAutofit fontScale="85000" lnSpcReduction="20000"/>
          </a:bodyPr>
          <a:lstStyle/>
          <a:p>
            <a:pPr algn="just">
              <a:lnSpc>
                <a:spcPct val="150000"/>
              </a:lnSpc>
            </a:pPr>
            <a:r>
              <a:rPr lang="en-US" sz="1600" dirty="0">
                <a:latin typeface="Times New Roman" panose="02020603050405020304" pitchFamily="18" charset="0"/>
                <a:cs typeface="Times New Roman" panose="02020603050405020304" pitchFamily="18" charset="0"/>
              </a:rPr>
              <a:t>The image displays a modern and visually appealing user registration page from a web application. At the center of the screen, a sleek form is overlaid on a tech-themed background. The form includes fields for entering a user's name, email, and password, followed by a prominent green "Register" button. The heading "User Registration" is styled in a vibrant green color, indicating a focus on clarity and user-friendliness. The background showcases a developer’s workspace with a computer screen displaying HTML code, design prototypes, a smartphone, and decorative items like a plant and a coffee cup. This setup suggests that the application is part of a professional or academic web development project, emphasizing both functionality and modern UI design.</a:t>
            </a:r>
            <a:endParaRPr lang="en-IN" sz="1600"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BBE50F80-7D05-CBC3-5A75-526F776CFFE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83920" y="1263400"/>
            <a:ext cx="5049519" cy="3923998"/>
          </a:xfrm>
          <a:prstGeom prst="rect">
            <a:avLst/>
          </a:prstGeom>
        </p:spPr>
      </p:pic>
      <p:sp>
        <p:nvSpPr>
          <p:cNvPr id="10" name="TextBox 9">
            <a:extLst>
              <a:ext uri="{FF2B5EF4-FFF2-40B4-BE49-F238E27FC236}">
                <a16:creationId xmlns:a16="http://schemas.microsoft.com/office/drawing/2014/main" id="{FC30DCCC-1DE3-8807-792A-0125BAEBD209}"/>
              </a:ext>
            </a:extLst>
          </p:cNvPr>
          <p:cNvSpPr txBox="1"/>
          <p:nvPr/>
        </p:nvSpPr>
        <p:spPr>
          <a:xfrm>
            <a:off x="6096000" y="731520"/>
            <a:ext cx="4043680" cy="523220"/>
          </a:xfrm>
          <a:prstGeom prst="rect">
            <a:avLst/>
          </a:prstGeom>
          <a:noFill/>
        </p:spPr>
        <p:txBody>
          <a:bodyPr wrap="square" rtlCol="0">
            <a:spAutoFit/>
          </a:bodyPr>
          <a:lstStyle/>
          <a:p>
            <a:pPr algn="ctr"/>
            <a:r>
              <a:rPr lang="en-US" sz="2800" dirty="0"/>
              <a:t>RESULT</a:t>
            </a:r>
            <a:endParaRPr lang="en-IN" sz="2800" dirty="0"/>
          </a:p>
        </p:txBody>
      </p:sp>
    </p:spTree>
    <p:extLst>
      <p:ext uri="{BB962C8B-B14F-4D97-AF65-F5344CB8AC3E}">
        <p14:creationId xmlns:p14="http://schemas.microsoft.com/office/powerpoint/2010/main" val="1937546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080D2-CC5F-34DC-0767-A182348F1694}"/>
              </a:ext>
            </a:extLst>
          </p:cNvPr>
          <p:cNvSpPr>
            <a:spLocks noGrp="1"/>
          </p:cNvSpPr>
          <p:nvPr>
            <p:ph type="title"/>
          </p:nvPr>
        </p:nvSpPr>
        <p:spPr/>
        <p:txBody>
          <a:bodyPr/>
          <a:lstStyle/>
          <a:p>
            <a:r>
              <a:rPr lang="en-US" dirty="0"/>
              <a:t>RESULT</a:t>
            </a:r>
            <a:endParaRPr lang="en-IN" dirty="0"/>
          </a:p>
        </p:txBody>
      </p:sp>
      <p:pic>
        <p:nvPicPr>
          <p:cNvPr id="6" name="Content Placeholder 5">
            <a:extLst>
              <a:ext uri="{FF2B5EF4-FFF2-40B4-BE49-F238E27FC236}">
                <a16:creationId xmlns:a16="http://schemas.microsoft.com/office/drawing/2014/main" id="{64EF7C45-2B5D-8724-3DEE-9F0C2E2174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3738" y="1524000"/>
            <a:ext cx="6080125" cy="4104435"/>
          </a:xfrm>
          <a:prstGeom prst="rect">
            <a:avLst/>
          </a:prstGeom>
        </p:spPr>
      </p:pic>
      <p:sp>
        <p:nvSpPr>
          <p:cNvPr id="4" name="Text Placeholder 3">
            <a:extLst>
              <a:ext uri="{FF2B5EF4-FFF2-40B4-BE49-F238E27FC236}">
                <a16:creationId xmlns:a16="http://schemas.microsoft.com/office/drawing/2014/main" id="{5F619A50-995A-977D-7EC9-8264EF3E3B63}"/>
              </a:ext>
            </a:extLst>
          </p:cNvPr>
          <p:cNvSpPr>
            <a:spLocks noGrp="1"/>
          </p:cNvSpPr>
          <p:nvPr>
            <p:ph type="body" sz="half" idx="2"/>
          </p:nvPr>
        </p:nvSpPr>
        <p:spPr/>
        <p:txBody>
          <a:bodyPr>
            <a:normAutofit/>
          </a:bodyPr>
          <a:lstStyle/>
          <a:p>
            <a:r>
              <a:rPr lang="en-US" b="1" dirty="0">
                <a:latin typeface="Times New Roman" panose="02020603050405020304" pitchFamily="18" charset="0"/>
                <a:cs typeface="Times New Roman" panose="02020603050405020304" pitchFamily="18" charset="0"/>
              </a:rPr>
              <a:t>Role-Based AI Interview Preparation – Selection Page</a:t>
            </a:r>
          </a:p>
          <a:p>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 Lets users choose their target job role to tailor interview practice.</a:t>
            </a:r>
          </a:p>
          <a:p>
            <a:r>
              <a:rPr lang="en-US" b="1" dirty="0">
                <a:latin typeface="Times New Roman" panose="02020603050405020304" pitchFamily="18" charset="0"/>
                <a:cs typeface="Times New Roman" panose="02020603050405020304" pitchFamily="18" charset="0"/>
              </a:rPr>
              <a:t>Main Feature:</a:t>
            </a:r>
            <a:r>
              <a:rPr lang="en-US" dirty="0">
                <a:latin typeface="Times New Roman" panose="02020603050405020304" pitchFamily="18" charset="0"/>
                <a:cs typeface="Times New Roman" panose="02020603050405020304" pitchFamily="18" charset="0"/>
              </a:rPr>
              <a:t> A dropdown menu labeled </a:t>
            </a:r>
            <a:r>
              <a:rPr lang="en-US" i="1" dirty="0">
                <a:latin typeface="Times New Roman" panose="02020603050405020304" pitchFamily="18" charset="0"/>
                <a:cs typeface="Times New Roman" panose="02020603050405020304" pitchFamily="18" charset="0"/>
              </a:rPr>
              <a:t>“Job role”</a:t>
            </a:r>
            <a:r>
              <a:rPr lang="en-US" dirty="0">
                <a:latin typeface="Times New Roman" panose="02020603050405020304" pitchFamily="18" charset="0"/>
                <a:cs typeface="Times New Roman" panose="02020603050405020304" pitchFamily="18" charset="0"/>
              </a:rPr>
              <a:t> with default option </a:t>
            </a:r>
            <a:r>
              <a:rPr lang="en-US" i="1" dirty="0">
                <a:latin typeface="Times New Roman" panose="02020603050405020304" pitchFamily="18" charset="0"/>
                <a:cs typeface="Times New Roman" panose="02020603050405020304" pitchFamily="18" charset="0"/>
              </a:rPr>
              <a:t>“-- Choose a role --”</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Action Button:</a:t>
            </a:r>
            <a:r>
              <a:rPr lang="en-US" dirty="0">
                <a:latin typeface="Times New Roman" panose="02020603050405020304" pitchFamily="18" charset="0"/>
                <a:cs typeface="Times New Roman" panose="02020603050405020304" pitchFamily="18" charset="0"/>
              </a:rPr>
              <a:t> Blue button </a:t>
            </a:r>
            <a:r>
              <a:rPr lang="en-US" i="1" dirty="0">
                <a:latin typeface="Times New Roman" panose="02020603050405020304" pitchFamily="18" charset="0"/>
                <a:cs typeface="Times New Roman" panose="02020603050405020304" pitchFamily="18" charset="0"/>
              </a:rPr>
              <a:t>“Continue to Dashboard”</a:t>
            </a:r>
            <a:r>
              <a:rPr lang="en-US" dirty="0">
                <a:latin typeface="Times New Roman" panose="02020603050405020304" pitchFamily="18" charset="0"/>
                <a:cs typeface="Times New Roman" panose="02020603050405020304" pitchFamily="18" charset="0"/>
              </a:rPr>
              <a:t> to proceed after selection.</a:t>
            </a:r>
          </a:p>
          <a:p>
            <a:r>
              <a:rPr lang="en-US" b="1" dirty="0">
                <a:latin typeface="Times New Roman" panose="02020603050405020304" pitchFamily="18" charset="0"/>
                <a:cs typeface="Times New Roman" panose="02020603050405020304" pitchFamily="18" charset="0"/>
              </a:rPr>
              <a:t>Guidance Text:</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“Your interview experience will be tailored to this role.”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Flexibility:</a:t>
            </a:r>
            <a:r>
              <a:rPr lang="en-US" dirty="0">
                <a:latin typeface="Times New Roman" panose="02020603050405020304" pitchFamily="18" charset="0"/>
                <a:cs typeface="Times New Roman" panose="02020603050405020304" pitchFamily="18" charset="0"/>
              </a:rPr>
              <a:t> Note at the bottom – </a:t>
            </a:r>
            <a:r>
              <a:rPr lang="en-US" i="1" dirty="0">
                <a:latin typeface="Times New Roman" panose="02020603050405020304" pitchFamily="18" charset="0"/>
                <a:cs typeface="Times New Roman" panose="02020603050405020304" pitchFamily="18" charset="0"/>
              </a:rPr>
              <a:t>“You can change this later in Profile.”</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7465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1E948-B0F0-677F-5108-A27C26883A99}"/>
              </a:ext>
            </a:extLst>
          </p:cNvPr>
          <p:cNvSpPr>
            <a:spLocks noGrp="1"/>
          </p:cNvSpPr>
          <p:nvPr>
            <p:ph type="title"/>
          </p:nvPr>
        </p:nvSpPr>
        <p:spPr>
          <a:xfrm>
            <a:off x="841248" y="457201"/>
            <a:ext cx="3200400" cy="1059180"/>
          </a:xfrm>
        </p:spPr>
        <p:txBody>
          <a:bodyPr/>
          <a:lstStyle/>
          <a:p>
            <a:r>
              <a:rPr lang="en-IN" dirty="0"/>
              <a:t>RESULT</a:t>
            </a:r>
          </a:p>
        </p:txBody>
      </p:sp>
      <p:sp>
        <p:nvSpPr>
          <p:cNvPr id="4" name="Text Placeholder 3">
            <a:extLst>
              <a:ext uri="{FF2B5EF4-FFF2-40B4-BE49-F238E27FC236}">
                <a16:creationId xmlns:a16="http://schemas.microsoft.com/office/drawing/2014/main" id="{44BD05F5-B619-8965-1D2B-4DB16049EE19}"/>
              </a:ext>
            </a:extLst>
          </p:cNvPr>
          <p:cNvSpPr>
            <a:spLocks noGrp="1"/>
          </p:cNvSpPr>
          <p:nvPr>
            <p:ph type="body" sz="half" idx="2"/>
          </p:nvPr>
        </p:nvSpPr>
        <p:spPr>
          <a:xfrm>
            <a:off x="365760" y="1729740"/>
            <a:ext cx="3675888" cy="4179995"/>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The Dashboard provides a quick overview of a user’s interview preparation progress for the selected target role. It displays key metrics such as total interviews completed, role-specific sessions, and the average score.</a:t>
            </a:r>
          </a:p>
          <a:p>
            <a:r>
              <a:rPr lang="en-US" dirty="0">
                <a:latin typeface="Times New Roman" panose="02020603050405020304" pitchFamily="18" charset="0"/>
                <a:cs typeface="Times New Roman" panose="02020603050405020304" pitchFamily="18" charset="0"/>
              </a:rPr>
              <a:t>Users can start a new role-specific interview directly from the dashboard. It also highlights strengths and areas for improvement based on completed sessions.</a:t>
            </a:r>
          </a:p>
          <a:p>
            <a:r>
              <a:rPr lang="en-US" dirty="0">
                <a:latin typeface="Times New Roman" panose="02020603050405020304" pitchFamily="18" charset="0"/>
                <a:cs typeface="Times New Roman" panose="02020603050405020304" pitchFamily="18" charset="0"/>
              </a:rPr>
              <a:t>Overall, the dashboard helps users monitor progress and focus on improving weaker areas efficiently.</a:t>
            </a:r>
          </a:p>
          <a:p>
            <a:r>
              <a:rPr lang="en-US" b="1" dirty="0">
                <a:latin typeface="Times New Roman" panose="02020603050405020304" pitchFamily="18" charset="0"/>
                <a:cs typeface="Times New Roman" panose="02020603050405020304" pitchFamily="18" charset="0"/>
              </a:rPr>
              <a:t>Key Features: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Displays selected target role</a:t>
            </a:r>
          </a:p>
          <a:p>
            <a:r>
              <a:rPr lang="en-US" dirty="0">
                <a:latin typeface="Times New Roman" panose="02020603050405020304" pitchFamily="18" charset="0"/>
                <a:cs typeface="Times New Roman" panose="02020603050405020304" pitchFamily="18" charset="0"/>
              </a:rPr>
              <a:t>Shows total and role-specific interview sessions</a:t>
            </a:r>
          </a:p>
          <a:p>
            <a:r>
              <a:rPr lang="en-US" dirty="0">
                <a:latin typeface="Times New Roman" panose="02020603050405020304" pitchFamily="18" charset="0"/>
                <a:cs typeface="Times New Roman" panose="02020603050405020304" pitchFamily="18" charset="0"/>
              </a:rPr>
              <a:t>Displays average interview score</a:t>
            </a:r>
          </a:p>
          <a:p>
            <a:r>
              <a:rPr lang="en-US" dirty="0">
                <a:latin typeface="Times New Roman" panose="02020603050405020304" pitchFamily="18" charset="0"/>
                <a:cs typeface="Times New Roman" panose="02020603050405020304" pitchFamily="18" charset="0"/>
              </a:rPr>
              <a:t>Highlights strengths and improvement areas</a:t>
            </a:r>
          </a:p>
          <a:p>
            <a:r>
              <a:rPr lang="en-US" dirty="0">
                <a:latin typeface="Times New Roman" panose="02020603050405020304" pitchFamily="18" charset="0"/>
                <a:cs typeface="Times New Roman" panose="02020603050405020304" pitchFamily="18" charset="0"/>
              </a:rPr>
              <a:t>Quick access to start new interviews</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60A0AC92-1E6A-0390-F60E-79F26CCA41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3738" y="1371600"/>
            <a:ext cx="6080125" cy="4538135"/>
          </a:xfrm>
          <a:prstGeom prst="rect">
            <a:avLst/>
          </a:prstGeom>
        </p:spPr>
      </p:pic>
    </p:spTree>
    <p:extLst>
      <p:ext uri="{BB962C8B-B14F-4D97-AF65-F5344CB8AC3E}">
        <p14:creationId xmlns:p14="http://schemas.microsoft.com/office/powerpoint/2010/main" val="127536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712C9-66AD-46B1-1576-72E3355964DB}"/>
              </a:ext>
            </a:extLst>
          </p:cNvPr>
          <p:cNvSpPr>
            <a:spLocks noGrp="1"/>
          </p:cNvSpPr>
          <p:nvPr>
            <p:ph type="title"/>
          </p:nvPr>
        </p:nvSpPr>
        <p:spPr>
          <a:xfrm>
            <a:off x="841248" y="457201"/>
            <a:ext cx="3200400" cy="1021080"/>
          </a:xfrm>
        </p:spPr>
        <p:txBody>
          <a:bodyPr/>
          <a:lstStyle/>
          <a:p>
            <a:r>
              <a:rPr lang="en-IN" dirty="0"/>
              <a:t>RESULT</a:t>
            </a:r>
          </a:p>
        </p:txBody>
      </p:sp>
      <p:sp>
        <p:nvSpPr>
          <p:cNvPr id="4" name="Text Placeholder 3">
            <a:extLst>
              <a:ext uri="{FF2B5EF4-FFF2-40B4-BE49-F238E27FC236}">
                <a16:creationId xmlns:a16="http://schemas.microsoft.com/office/drawing/2014/main" id="{B9DA3A48-E38C-C65A-D920-19A416FFE188}"/>
              </a:ext>
            </a:extLst>
          </p:cNvPr>
          <p:cNvSpPr>
            <a:spLocks noGrp="1"/>
          </p:cNvSpPr>
          <p:nvPr>
            <p:ph type="body" sz="half" idx="2"/>
          </p:nvPr>
        </p:nvSpPr>
        <p:spPr>
          <a:xfrm>
            <a:off x="510540" y="1744980"/>
            <a:ext cx="3802380" cy="4164755"/>
          </a:xfrm>
        </p:spPr>
        <p:txBody>
          <a:bodyPr>
            <a:normAutofit lnSpcReduction="10000"/>
          </a:bodyPr>
          <a:lstStyle/>
          <a:p>
            <a:r>
              <a:rPr lang="en-US" b="1" dirty="0">
                <a:latin typeface="Times New Roman" panose="02020603050405020304" pitchFamily="18" charset="0"/>
                <a:cs typeface="Times New Roman" panose="02020603050405020304" pitchFamily="18" charset="0"/>
              </a:rPr>
              <a:t>Coding Interview Module</a:t>
            </a:r>
          </a:p>
          <a:p>
            <a:r>
              <a:rPr lang="en-US" dirty="0">
                <a:latin typeface="Times New Roman" panose="02020603050405020304" pitchFamily="18" charset="0"/>
                <a:cs typeface="Times New Roman" panose="02020603050405020304" pitchFamily="18" charset="0"/>
              </a:rPr>
              <a:t>Provides an interactive environment for role-based coding interview practice</a:t>
            </a:r>
          </a:p>
          <a:p>
            <a:r>
              <a:rPr lang="en-US" dirty="0">
                <a:latin typeface="Times New Roman" panose="02020603050405020304" pitchFamily="18" charset="0"/>
                <a:cs typeface="Times New Roman" panose="02020603050405020304" pitchFamily="18" charset="0"/>
              </a:rPr>
              <a:t>Displays job-specific coding problems based on the selected target role</a:t>
            </a:r>
          </a:p>
          <a:p>
            <a:r>
              <a:rPr lang="en-US" dirty="0">
                <a:latin typeface="Times New Roman" panose="02020603050405020304" pitchFamily="18" charset="0"/>
                <a:cs typeface="Times New Roman" panose="02020603050405020304" pitchFamily="18" charset="0"/>
              </a:rPr>
              <a:t>Includes an integrated Java code editor for writing and testing solutions</a:t>
            </a:r>
          </a:p>
          <a:p>
            <a:r>
              <a:rPr lang="en-US" dirty="0">
                <a:latin typeface="Times New Roman" panose="02020603050405020304" pitchFamily="18" charset="0"/>
                <a:cs typeface="Times New Roman" panose="02020603050405020304" pitchFamily="18" charset="0"/>
              </a:rPr>
              <a:t>Supports real-time code execution within the platform</a:t>
            </a:r>
          </a:p>
          <a:p>
            <a:r>
              <a:rPr lang="en-US" dirty="0">
                <a:latin typeface="Times New Roman" panose="02020603050405020304" pitchFamily="18" charset="0"/>
                <a:cs typeface="Times New Roman" panose="02020603050405020304" pitchFamily="18" charset="0"/>
              </a:rPr>
              <a:t>Offers AI-based feedback to evaluate logic, correctness, and efficiency</a:t>
            </a:r>
          </a:p>
          <a:p>
            <a:r>
              <a:rPr lang="en-US" dirty="0">
                <a:latin typeface="Times New Roman" panose="02020603050405020304" pitchFamily="18" charset="0"/>
                <a:cs typeface="Times New Roman" panose="02020603050405020304" pitchFamily="18" charset="0"/>
              </a:rPr>
              <a:t>Allows users to load new problems during the same interview session</a:t>
            </a:r>
          </a:p>
          <a:p>
            <a:r>
              <a:rPr lang="en-US" dirty="0">
                <a:latin typeface="Times New Roman" panose="02020603050405020304" pitchFamily="18" charset="0"/>
                <a:cs typeface="Times New Roman" panose="02020603050405020304" pitchFamily="18" charset="0"/>
              </a:rPr>
              <a:t>Provides session controls to navigate back or end the interview safely</a:t>
            </a:r>
          </a:p>
          <a:p>
            <a:pPr algn="just"/>
            <a:endParaRPr lang="en-IN"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F3AA9060-DC4D-C909-A8BF-2AC9D4F0FB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3738" y="1351281"/>
            <a:ext cx="6080125" cy="4358640"/>
          </a:xfrm>
          <a:prstGeom prst="rect">
            <a:avLst/>
          </a:prstGeom>
        </p:spPr>
      </p:pic>
    </p:spTree>
    <p:extLst>
      <p:ext uri="{BB962C8B-B14F-4D97-AF65-F5344CB8AC3E}">
        <p14:creationId xmlns:p14="http://schemas.microsoft.com/office/powerpoint/2010/main" val="2702075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6F4F4-E488-5BC7-1639-8C0514525E5A}"/>
              </a:ext>
            </a:extLst>
          </p:cNvPr>
          <p:cNvSpPr>
            <a:spLocks noGrp="1"/>
          </p:cNvSpPr>
          <p:nvPr>
            <p:ph type="title"/>
          </p:nvPr>
        </p:nvSpPr>
        <p:spPr>
          <a:xfrm>
            <a:off x="841248" y="457201"/>
            <a:ext cx="3200400" cy="680720"/>
          </a:xfrm>
        </p:spPr>
        <p:txBody>
          <a:bodyPr/>
          <a:lstStyle/>
          <a:p>
            <a:r>
              <a:rPr lang="en-US" dirty="0"/>
              <a:t>RESULTS</a:t>
            </a:r>
            <a:endParaRPr lang="en-IN" dirty="0"/>
          </a:p>
        </p:txBody>
      </p:sp>
      <p:pic>
        <p:nvPicPr>
          <p:cNvPr id="18" name="Content Placeholder 17">
            <a:extLst>
              <a:ext uri="{FF2B5EF4-FFF2-40B4-BE49-F238E27FC236}">
                <a16:creationId xmlns:a16="http://schemas.microsoft.com/office/drawing/2014/main" id="{236EC4C1-6FBE-EAA0-FC13-F61673D2CC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58080" y="1351280"/>
            <a:ext cx="5625783" cy="4389120"/>
          </a:xfrm>
          <a:prstGeom prst="rect">
            <a:avLst/>
          </a:prstGeom>
        </p:spPr>
      </p:pic>
      <p:sp>
        <p:nvSpPr>
          <p:cNvPr id="4" name="Text Placeholder 3">
            <a:extLst>
              <a:ext uri="{FF2B5EF4-FFF2-40B4-BE49-F238E27FC236}">
                <a16:creationId xmlns:a16="http://schemas.microsoft.com/office/drawing/2014/main" id="{B187BEDA-31AE-66EE-777E-B49B3CC0668D}"/>
              </a:ext>
            </a:extLst>
          </p:cNvPr>
          <p:cNvSpPr>
            <a:spLocks noGrp="1"/>
          </p:cNvSpPr>
          <p:nvPr>
            <p:ph type="body" sz="half" idx="2"/>
          </p:nvPr>
        </p:nvSpPr>
        <p:spPr>
          <a:xfrm>
            <a:off x="607568" y="1351280"/>
            <a:ext cx="3872992" cy="4758266"/>
          </a:xfrm>
        </p:spPr>
        <p:txBody>
          <a:bodyPr>
            <a:noAutofit/>
          </a:bodyPr>
          <a:lstStyle/>
          <a:p>
            <a:r>
              <a:rPr lang="en-US" b="1" dirty="0" err="1">
                <a:latin typeface="Times New Roman" panose="02020603050405020304" pitchFamily="18" charset="0"/>
                <a:cs typeface="Times New Roman" panose="02020603050405020304" pitchFamily="18" charset="0"/>
              </a:rPr>
              <a:t>InterviewPrep</a:t>
            </a:r>
            <a:r>
              <a:rPr lang="en-US" b="1" dirty="0">
                <a:latin typeface="Times New Roman" panose="02020603050405020304" pitchFamily="18" charset="0"/>
                <a:cs typeface="Times New Roman" panose="02020603050405020304" pitchFamily="18" charset="0"/>
              </a:rPr>
              <a:t> – MCQ Interview Page</a:t>
            </a:r>
          </a:p>
          <a:p>
            <a:r>
              <a:rPr lang="en-US" b="1" dirty="0">
                <a:latin typeface="Times New Roman" panose="02020603050405020304" pitchFamily="18" charset="0"/>
                <a:cs typeface="Times New Roman" panose="02020603050405020304" pitchFamily="18" charset="0"/>
              </a:rPr>
              <a:t>Purpose:</a:t>
            </a:r>
            <a:r>
              <a:rPr lang="en-US" dirty="0">
                <a:latin typeface="Times New Roman" panose="02020603050405020304" pitchFamily="18" charset="0"/>
                <a:cs typeface="Times New Roman" panose="02020603050405020304" pitchFamily="18" charset="0"/>
              </a:rPr>
              <a:t> Provides interactive multiple‑choice questions for interview practice.</a:t>
            </a:r>
          </a:p>
          <a:p>
            <a:r>
              <a:rPr lang="en-US" b="1" dirty="0">
                <a:latin typeface="Times New Roman" panose="02020603050405020304" pitchFamily="18" charset="0"/>
                <a:cs typeface="Times New Roman" panose="02020603050405020304" pitchFamily="18" charset="0"/>
              </a:rPr>
              <a:t>User Context:</a:t>
            </a:r>
            <a:r>
              <a:rPr lang="en-US" dirty="0">
                <a:latin typeface="Times New Roman" panose="02020603050405020304" pitchFamily="18" charset="0"/>
                <a:cs typeface="Times New Roman" panose="02020603050405020304" pitchFamily="18" charset="0"/>
              </a:rPr>
              <a:t> Logged in as </a:t>
            </a:r>
            <a:r>
              <a:rPr lang="en-US" i="1" dirty="0">
                <a:latin typeface="Times New Roman" panose="02020603050405020304" pitchFamily="18" charset="0"/>
                <a:cs typeface="Times New Roman" panose="02020603050405020304" pitchFamily="18" charset="0"/>
              </a:rPr>
              <a:t>Java Full Stack Developer</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Main Section:</a:t>
            </a:r>
            <a:r>
              <a:rPr lang="en-US" dirty="0">
                <a:latin typeface="Times New Roman" panose="02020603050405020304" pitchFamily="18" charset="0"/>
                <a:cs typeface="Times New Roman" panose="02020603050405020304" pitchFamily="18" charset="0"/>
              </a:rPr>
              <a:t> Displays a question with four options (e.g., </a:t>
            </a:r>
            <a:r>
              <a:rPr lang="en-US" i="1" dirty="0">
                <a:latin typeface="Times New Roman" panose="02020603050405020304" pitchFamily="18" charset="0"/>
                <a:cs typeface="Times New Roman" panose="02020603050405020304" pitchFamily="18" charset="0"/>
              </a:rPr>
              <a:t>Which HTTP method is idempotent by definition?</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Answer Input:</a:t>
            </a:r>
            <a:r>
              <a:rPr lang="en-US" dirty="0">
                <a:latin typeface="Times New Roman" panose="02020603050405020304" pitchFamily="18" charset="0"/>
                <a:cs typeface="Times New Roman" panose="02020603050405020304" pitchFamily="18" charset="0"/>
              </a:rPr>
              <a:t> Text box to type an answer, plus a button </a:t>
            </a:r>
            <a:r>
              <a:rPr lang="en-US" i="1" dirty="0">
                <a:latin typeface="Times New Roman" panose="02020603050405020304" pitchFamily="18" charset="0"/>
                <a:cs typeface="Times New Roman" panose="02020603050405020304" pitchFamily="18" charset="0"/>
              </a:rPr>
              <a:t>“Submit for feedback”</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Controls:</a:t>
            </a:r>
            <a:endParaRPr lang="en-US" dirty="0">
              <a:latin typeface="Times New Roman" panose="02020603050405020304" pitchFamily="18" charset="0"/>
              <a:cs typeface="Times New Roman" panose="02020603050405020304" pitchFamily="18" charset="0"/>
            </a:endParaRPr>
          </a:p>
          <a:p>
            <a:pPr lvl="1"/>
            <a:r>
              <a:rPr lang="en-US" sz="1300" b="1" dirty="0">
                <a:latin typeface="Times New Roman" panose="02020603050405020304" pitchFamily="18" charset="0"/>
                <a:cs typeface="Times New Roman" panose="02020603050405020304" pitchFamily="18" charset="0"/>
              </a:rPr>
              <a:t>Back</a:t>
            </a:r>
            <a:r>
              <a:rPr lang="en-US" sz="1300" dirty="0">
                <a:latin typeface="Times New Roman" panose="02020603050405020304" pitchFamily="18" charset="0"/>
                <a:cs typeface="Times New Roman" panose="02020603050405020304" pitchFamily="18" charset="0"/>
              </a:rPr>
              <a:t> – Navigate to previous screen</a:t>
            </a:r>
          </a:p>
          <a:p>
            <a:pPr lvl="1"/>
            <a:r>
              <a:rPr lang="en-US" sz="1300" b="1" dirty="0">
                <a:latin typeface="Times New Roman" panose="02020603050405020304" pitchFamily="18" charset="0"/>
                <a:cs typeface="Times New Roman" panose="02020603050405020304" pitchFamily="18" charset="0"/>
              </a:rPr>
              <a:t>End session</a:t>
            </a:r>
            <a:r>
              <a:rPr lang="en-US" sz="1300" dirty="0">
                <a:latin typeface="Times New Roman" panose="02020603050405020304" pitchFamily="18" charset="0"/>
                <a:cs typeface="Times New Roman" panose="02020603050405020304" pitchFamily="18" charset="0"/>
              </a:rPr>
              <a:t> – Finish current interview attempt</a:t>
            </a:r>
          </a:p>
          <a:p>
            <a:pPr lvl="1"/>
            <a:r>
              <a:rPr lang="en-US" sz="1300" b="1" dirty="0">
                <a:latin typeface="Times New Roman" panose="02020603050405020304" pitchFamily="18" charset="0"/>
                <a:cs typeface="Times New Roman" panose="02020603050405020304" pitchFamily="18" charset="0"/>
              </a:rPr>
              <a:t>New question</a:t>
            </a:r>
            <a:r>
              <a:rPr lang="en-US" sz="1300" dirty="0">
                <a:latin typeface="Times New Roman" panose="02020603050405020304" pitchFamily="18" charset="0"/>
                <a:cs typeface="Times New Roman" panose="02020603050405020304" pitchFamily="18" charset="0"/>
              </a:rPr>
              <a:t> – Generate another practice question</a:t>
            </a:r>
          </a:p>
          <a:p>
            <a:r>
              <a:rPr lang="en-US" b="1" dirty="0">
                <a:latin typeface="Times New Roman" panose="02020603050405020304" pitchFamily="18" charset="0"/>
                <a:cs typeface="Times New Roman" panose="02020603050405020304" pitchFamily="18" charset="0"/>
              </a:rPr>
              <a:t>Navigation:</a:t>
            </a:r>
            <a:r>
              <a:rPr lang="en-US" dirty="0">
                <a:latin typeface="Times New Roman" panose="02020603050405020304" pitchFamily="18" charset="0"/>
                <a:cs typeface="Times New Roman" panose="02020603050405020304" pitchFamily="18" charset="0"/>
              </a:rPr>
              <a:t> Dashboard, Interview, History, and Profile links at the top.</a:t>
            </a:r>
          </a:p>
          <a:p>
            <a:endParaRPr lang="en-IN" dirty="0">
              <a:latin typeface="Times New Roman" panose="02020603050405020304" pitchFamily="18" charset="0"/>
              <a:cs typeface="Times New Roman" panose="02020603050405020304" pitchFamily="18" charset="0"/>
            </a:endParaRPr>
          </a:p>
        </p:txBody>
      </p:sp>
      <p:sp>
        <p:nvSpPr>
          <p:cNvPr id="6" name="AutoShape 2">
            <a:extLst>
              <a:ext uri="{FF2B5EF4-FFF2-40B4-BE49-F238E27FC236}">
                <a16:creationId xmlns:a16="http://schemas.microsoft.com/office/drawing/2014/main" id="{A4B81D35-BAFD-CF93-48C1-E00649859649}"/>
              </a:ext>
            </a:extLst>
          </p:cNvPr>
          <p:cNvSpPr>
            <a:spLocks noChangeAspect="1" noChangeArrowheads="1"/>
          </p:cNvSpPr>
          <p:nvPr/>
        </p:nvSpPr>
        <p:spPr bwMode="auto">
          <a:xfrm>
            <a:off x="127000" y="-59213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3">
            <a:extLst>
              <a:ext uri="{FF2B5EF4-FFF2-40B4-BE49-F238E27FC236}">
                <a16:creationId xmlns:a16="http://schemas.microsoft.com/office/drawing/2014/main" id="{F059E1B0-7D9C-68C3-391D-B0BD198BF435}"/>
              </a:ext>
            </a:extLst>
          </p:cNvPr>
          <p:cNvSpPr>
            <a:spLocks noChangeAspect="1" noChangeArrowheads="1"/>
          </p:cNvSpPr>
          <p:nvPr/>
        </p:nvSpPr>
        <p:spPr bwMode="auto">
          <a:xfrm>
            <a:off x="127000" y="-2613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a:extLst>
              <a:ext uri="{FF2B5EF4-FFF2-40B4-BE49-F238E27FC236}">
                <a16:creationId xmlns:a16="http://schemas.microsoft.com/office/drawing/2014/main" id="{DEA8B5B2-C3F3-DCE9-3D9F-A765B7F316BB}"/>
              </a:ext>
            </a:extLst>
          </p:cNvPr>
          <p:cNvSpPr>
            <a:spLocks noChangeAspect="1" noChangeArrowheads="1"/>
          </p:cNvSpPr>
          <p:nvPr/>
        </p:nvSpPr>
        <p:spPr bwMode="auto">
          <a:xfrm>
            <a:off x="127000" y="23399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13644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4B1CD-CB88-3915-0138-05B133836845}"/>
              </a:ext>
            </a:extLst>
          </p:cNvPr>
          <p:cNvSpPr>
            <a:spLocks noGrp="1"/>
          </p:cNvSpPr>
          <p:nvPr>
            <p:ph type="title"/>
          </p:nvPr>
        </p:nvSpPr>
        <p:spPr>
          <a:xfrm>
            <a:off x="841248" y="457201"/>
            <a:ext cx="3200400" cy="731520"/>
          </a:xfrm>
        </p:spPr>
        <p:txBody>
          <a:bodyPr/>
          <a:lstStyle/>
          <a:p>
            <a:r>
              <a:rPr lang="en-IN" dirty="0"/>
              <a:t>RESULTS</a:t>
            </a:r>
          </a:p>
        </p:txBody>
      </p:sp>
      <p:sp>
        <p:nvSpPr>
          <p:cNvPr id="4" name="Text Placeholder 3">
            <a:extLst>
              <a:ext uri="{FF2B5EF4-FFF2-40B4-BE49-F238E27FC236}">
                <a16:creationId xmlns:a16="http://schemas.microsoft.com/office/drawing/2014/main" id="{03E6848C-2A3C-1B52-48A8-D3F4C0DA910E}"/>
              </a:ext>
            </a:extLst>
          </p:cNvPr>
          <p:cNvSpPr>
            <a:spLocks noGrp="1"/>
          </p:cNvSpPr>
          <p:nvPr>
            <p:ph type="body" sz="half" idx="2"/>
          </p:nvPr>
        </p:nvSpPr>
        <p:spPr>
          <a:xfrm>
            <a:off x="358140" y="1394460"/>
            <a:ext cx="3683508" cy="5006339"/>
          </a:xfrm>
        </p:spPr>
        <p:txBody>
          <a:bodyPr>
            <a:noAutofit/>
          </a:bodyPr>
          <a:lstStyle/>
          <a:p>
            <a:r>
              <a:rPr lang="en-US" sz="1200" b="1" dirty="0" err="1">
                <a:latin typeface="Times New Roman" panose="02020603050405020304" pitchFamily="18" charset="0"/>
                <a:cs typeface="Times New Roman" panose="02020603050405020304" pitchFamily="18" charset="0"/>
              </a:rPr>
              <a:t>InterviewPrep</a:t>
            </a:r>
            <a:r>
              <a:rPr lang="en-US" sz="1200" b="1" dirty="0">
                <a:latin typeface="Times New Roman" panose="02020603050405020304" pitchFamily="18" charset="0"/>
                <a:cs typeface="Times New Roman" panose="02020603050405020304" pitchFamily="18" charset="0"/>
              </a:rPr>
              <a:t> – Session History Page</a:t>
            </a:r>
          </a:p>
          <a:p>
            <a:r>
              <a:rPr lang="en-US" sz="1200" b="1" dirty="0">
                <a:latin typeface="Times New Roman" panose="02020603050405020304" pitchFamily="18" charset="0"/>
                <a:cs typeface="Times New Roman" panose="02020603050405020304" pitchFamily="18" charset="0"/>
              </a:rPr>
              <a:t>Purpose:</a:t>
            </a:r>
            <a:r>
              <a:rPr lang="en-US" sz="1200" dirty="0">
                <a:latin typeface="Times New Roman" panose="02020603050405020304" pitchFamily="18" charset="0"/>
                <a:cs typeface="Times New Roman" panose="02020603050405020304" pitchFamily="18" charset="0"/>
              </a:rPr>
              <a:t> Displays past interview practice sessions for the user.</a:t>
            </a:r>
          </a:p>
          <a:p>
            <a:r>
              <a:rPr lang="en-US" sz="1200" b="1" dirty="0">
                <a:latin typeface="Times New Roman" panose="02020603050405020304" pitchFamily="18" charset="0"/>
                <a:cs typeface="Times New Roman" panose="02020603050405020304" pitchFamily="18" charset="0"/>
              </a:rPr>
              <a:t>User Context:</a:t>
            </a:r>
            <a:r>
              <a:rPr lang="en-US" sz="1200" dirty="0">
                <a:latin typeface="Times New Roman" panose="02020603050405020304" pitchFamily="18" charset="0"/>
                <a:cs typeface="Times New Roman" panose="02020603050405020304" pitchFamily="18" charset="0"/>
              </a:rPr>
              <a:t> Logged in as </a:t>
            </a:r>
            <a:r>
              <a:rPr lang="en-US" sz="1200" i="1" dirty="0">
                <a:latin typeface="Times New Roman" panose="02020603050405020304" pitchFamily="18" charset="0"/>
                <a:cs typeface="Times New Roman" panose="02020603050405020304" pitchFamily="18" charset="0"/>
              </a:rPr>
              <a:t>Java Full Stack Developer</a:t>
            </a:r>
            <a:r>
              <a:rPr lang="en-US" sz="1200"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Main Section:</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Session history</a:t>
            </a:r>
            <a:r>
              <a:rPr lang="en-US" sz="1200" dirty="0">
                <a:latin typeface="Times New Roman" panose="02020603050405020304" pitchFamily="18" charset="0"/>
                <a:cs typeface="Times New Roman" panose="02020603050405020304" pitchFamily="18" charset="0"/>
              </a:rPr>
              <a:t> table with filters for role selection.</a:t>
            </a:r>
          </a:p>
          <a:p>
            <a:r>
              <a:rPr lang="en-US" sz="1200" b="1" dirty="0">
                <a:latin typeface="Times New Roman" panose="02020603050405020304" pitchFamily="18" charset="0"/>
                <a:cs typeface="Times New Roman" panose="02020603050405020304" pitchFamily="18" charset="0"/>
              </a:rPr>
              <a:t>Table Columns:</a:t>
            </a:r>
            <a:endParaRPr lang="en-US" sz="1200"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Date</a:t>
            </a:r>
            <a:r>
              <a:rPr lang="en-US" dirty="0">
                <a:latin typeface="Times New Roman" panose="02020603050405020304" pitchFamily="18" charset="0"/>
                <a:cs typeface="Times New Roman" panose="02020603050405020304" pitchFamily="18" charset="0"/>
              </a:rPr>
              <a:t> – Timestamp of each session</a:t>
            </a:r>
          </a:p>
          <a:p>
            <a:pPr lvl="1"/>
            <a:r>
              <a:rPr lang="en-US" b="1" dirty="0">
                <a:latin typeface="Times New Roman" panose="02020603050405020304" pitchFamily="18" charset="0"/>
                <a:cs typeface="Times New Roman" panose="02020603050405020304" pitchFamily="18" charset="0"/>
              </a:rPr>
              <a:t>Role</a:t>
            </a:r>
            <a:r>
              <a:rPr lang="en-US" dirty="0">
                <a:latin typeface="Times New Roman" panose="02020603050405020304" pitchFamily="18" charset="0"/>
                <a:cs typeface="Times New Roman" panose="02020603050405020304" pitchFamily="18" charset="0"/>
              </a:rPr>
              <a:t> – Target job role (Java Full Stack Developer)</a:t>
            </a:r>
          </a:p>
          <a:p>
            <a:pPr lvl="1"/>
            <a:r>
              <a:rPr lang="en-US" b="1" dirty="0">
                <a:latin typeface="Times New Roman" panose="02020603050405020304" pitchFamily="18" charset="0"/>
                <a:cs typeface="Times New Roman" panose="02020603050405020304" pitchFamily="18" charset="0"/>
              </a:rPr>
              <a:t>Type</a:t>
            </a:r>
            <a:r>
              <a:rPr lang="en-US" dirty="0">
                <a:latin typeface="Times New Roman" panose="02020603050405020304" pitchFamily="18" charset="0"/>
                <a:cs typeface="Times New Roman" panose="02020603050405020304" pitchFamily="18" charset="0"/>
              </a:rPr>
              <a:t> – Session type (FULL_MOCK, CODING, TECHNICAL)</a:t>
            </a:r>
          </a:p>
          <a:p>
            <a:pPr lvl="1"/>
            <a:r>
              <a:rPr lang="en-US" b="1" dirty="0">
                <a:latin typeface="Times New Roman" panose="02020603050405020304" pitchFamily="18" charset="0"/>
                <a:cs typeface="Times New Roman" panose="02020603050405020304" pitchFamily="18" charset="0"/>
              </a:rPr>
              <a:t>Topic</a:t>
            </a:r>
            <a:r>
              <a:rPr lang="en-US" dirty="0">
                <a:latin typeface="Times New Roman" panose="02020603050405020304" pitchFamily="18" charset="0"/>
                <a:cs typeface="Times New Roman" panose="02020603050405020304" pitchFamily="18" charset="0"/>
              </a:rPr>
              <a:t> – Currently blank for most entries</a:t>
            </a:r>
          </a:p>
          <a:p>
            <a:pPr lvl="1"/>
            <a:r>
              <a:rPr lang="en-US" b="1" dirty="0">
                <a:latin typeface="Times New Roman" panose="02020603050405020304" pitchFamily="18" charset="0"/>
                <a:cs typeface="Times New Roman" panose="02020603050405020304" pitchFamily="18" charset="0"/>
              </a:rPr>
              <a:t>Score</a:t>
            </a:r>
            <a:r>
              <a:rPr lang="en-US" dirty="0">
                <a:latin typeface="Times New Roman" panose="02020603050405020304" pitchFamily="18" charset="0"/>
                <a:cs typeface="Times New Roman" panose="02020603050405020304" pitchFamily="18" charset="0"/>
              </a:rPr>
              <a:t> – Performance metric (e.g., one entry shows 3%)</a:t>
            </a:r>
          </a:p>
          <a:p>
            <a:pPr lvl="1"/>
            <a:r>
              <a:rPr lang="en-US" b="1" dirty="0">
                <a:latin typeface="Times New Roman" panose="02020603050405020304" pitchFamily="18" charset="0"/>
                <a:cs typeface="Times New Roman" panose="02020603050405020304" pitchFamily="18" charset="0"/>
              </a:rPr>
              <a:t>Questions</a:t>
            </a:r>
            <a:r>
              <a:rPr lang="en-US" dirty="0">
                <a:latin typeface="Times New Roman" panose="02020603050405020304" pitchFamily="18" charset="0"/>
                <a:cs typeface="Times New Roman" panose="02020603050405020304" pitchFamily="18" charset="0"/>
              </a:rPr>
              <a:t> – Number of questions attempted (0–1)</a:t>
            </a:r>
          </a:p>
          <a:p>
            <a:r>
              <a:rPr lang="en-US" sz="1200" b="1" dirty="0">
                <a:latin typeface="Times New Roman" panose="02020603050405020304" pitchFamily="18" charset="0"/>
                <a:cs typeface="Times New Roman" panose="02020603050405020304" pitchFamily="18" charset="0"/>
              </a:rPr>
              <a:t>Navigation:</a:t>
            </a:r>
            <a:r>
              <a:rPr lang="en-US" sz="1200" dirty="0">
                <a:latin typeface="Times New Roman" panose="02020603050405020304" pitchFamily="18" charset="0"/>
                <a:cs typeface="Times New Roman" panose="02020603050405020304" pitchFamily="18" charset="0"/>
              </a:rPr>
              <a:t> Links to Dashboard, Interview, History, and Profile.</a:t>
            </a:r>
          </a:p>
          <a:p>
            <a:pPr algn="just">
              <a:lnSpc>
                <a:spcPct val="100000"/>
              </a:lnSpc>
            </a:pPr>
            <a:endParaRPr lang="en-IN" sz="12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4B1CEB00-9527-6C9B-974A-FEB7F95F9F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76800" y="1300481"/>
            <a:ext cx="5778183" cy="4683760"/>
          </a:xfrm>
          <a:prstGeom prst="rect">
            <a:avLst/>
          </a:prstGeom>
        </p:spPr>
      </p:pic>
    </p:spTree>
    <p:extLst>
      <p:ext uri="{BB962C8B-B14F-4D97-AF65-F5344CB8AC3E}">
        <p14:creationId xmlns:p14="http://schemas.microsoft.com/office/powerpoint/2010/main" val="4142646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01B83-7D75-2945-F858-19F02F88B9A9}"/>
              </a:ext>
            </a:extLst>
          </p:cNvPr>
          <p:cNvSpPr>
            <a:spLocks noGrp="1"/>
          </p:cNvSpPr>
          <p:nvPr>
            <p:ph type="title"/>
          </p:nvPr>
        </p:nvSpPr>
        <p:spPr/>
        <p:txBody>
          <a:bodyPr/>
          <a:lstStyle/>
          <a:p>
            <a:pPr algn="ctr">
              <a:lnSpc>
                <a:spcPct val="150000"/>
              </a:lnSpc>
            </a:pPr>
            <a:r>
              <a:rPr lang="en-US" sz="3200"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70B461-16DF-EE92-56C0-4DA9F77F3607}"/>
              </a:ext>
            </a:extLst>
          </p:cNvPr>
          <p:cNvSpPr>
            <a:spLocks noGrp="1"/>
          </p:cNvSpPr>
          <p:nvPr>
            <p:ph idx="1"/>
          </p:nvPr>
        </p:nvSpPr>
        <p:spPr/>
        <p:txBody>
          <a:bodyPr>
            <a:norm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AI-Powered Interview Preparation Portal with Code Execution Feature provides a practical and user-friendly solution for students and aspiring professionals to improve their coding skills and prepare for technical interviews. By integrating real-time code execution, categorized questions, and personal submission tracking, the system creates a complete learning environment that bridges the gap between theoretical knowledge and practical </a:t>
            </a:r>
            <a:r>
              <a:rPr lang="en-US" sz="1600" dirty="0" err="1">
                <a:latin typeface="Times New Roman" panose="02020603050405020304" pitchFamily="18" charset="0"/>
                <a:cs typeface="Times New Roman" panose="02020603050405020304" pitchFamily="18" charset="0"/>
              </a:rPr>
              <a:t>application.This</a:t>
            </a:r>
            <a:r>
              <a:rPr lang="en-US" sz="1600" dirty="0">
                <a:latin typeface="Times New Roman" panose="02020603050405020304" pitchFamily="18" charset="0"/>
                <a:cs typeface="Times New Roman" panose="02020603050405020304" pitchFamily="18" charset="0"/>
              </a:rPr>
              <a:t> project not only enhances problem-solving abilities but also offers a structured, self-paced platform for continuous learning. Its simple design, academic focus, and ability to provide instant feedback make it a valuable tool for interview readiness, especially for beginners and educational institutions. Overall, the system fulfills its objective of creating a smart, scalable, and accessible solution for technical interview preparation.</a:t>
            </a: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4136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2F99-8ECF-EB46-2EE8-31C92ABF541B}"/>
              </a:ext>
            </a:extLst>
          </p:cNvPr>
          <p:cNvSpPr>
            <a:spLocks noGrp="1"/>
          </p:cNvSpPr>
          <p:nvPr>
            <p:ph type="title"/>
          </p:nvPr>
        </p:nvSpPr>
        <p:spPr/>
        <p:txBody>
          <a:bodyPr/>
          <a:lstStyle/>
          <a:p>
            <a:pPr algn="ctr">
              <a:lnSpc>
                <a:spcPct val="150000"/>
              </a:lnSpc>
            </a:pPr>
            <a:r>
              <a:rPr lang="en-US" sz="3200" b="1" dirty="0">
                <a:latin typeface="Times New Roman" panose="02020603050405020304" pitchFamily="18" charset="0"/>
                <a:cs typeface="Times New Roman" panose="02020603050405020304" pitchFamily="18" charset="0"/>
              </a:rPr>
              <a:t>FUTURE SCOPE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2637BA-EFAE-65BF-7CBB-857920C76553}"/>
              </a:ext>
            </a:extLst>
          </p:cNvPr>
          <p:cNvSpPr>
            <a:spLocks noGrp="1"/>
          </p:cNvSpPr>
          <p:nvPr>
            <p:ph idx="1"/>
          </p:nvPr>
        </p:nvSpPr>
        <p:spPr/>
        <p:txBody>
          <a:bodyPr>
            <a:normAutofit/>
          </a:bodyPr>
          <a:lstStyle/>
          <a:p>
            <a:pPr marL="0" indent="0" algn="just">
              <a:lnSpc>
                <a:spcPct val="150000"/>
              </a:lnSpc>
              <a:buNone/>
            </a:pPr>
            <a:r>
              <a:rPr lang="en-US" sz="1600" dirty="0"/>
              <a:t>The platform will provide a structured question bank, allowing users to filter questions based on difficulty level or category. To further enhance learning, the portal will display a performance dashboard that tracks progress over time, offering graphical representations of solved problems, time spent, and success rates. The admin panel will enable administrators to manage users, questions, and monitor system performance. With an intuitive, responsive user interface designed for beginners, the portal will be optimized for both desktop and mobile use. Over time, additional features like gamification, live coding challenges, and integration with job boards may be added to motivate users and help them transition from practice to real-world job opportunities.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7843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4DE24-9F86-1B1B-9679-47875615D362}"/>
              </a:ext>
            </a:extLst>
          </p:cNvPr>
          <p:cNvSpPr>
            <a:spLocks noGrp="1"/>
          </p:cNvSpPr>
          <p:nvPr>
            <p:ph type="title"/>
          </p:nvPr>
        </p:nvSpPr>
        <p:spPr/>
        <p:txBody>
          <a:bodyPr/>
          <a:lstStyle/>
          <a:p>
            <a:pPr algn="ctr">
              <a:lnSpc>
                <a:spcPct val="150000"/>
              </a:lnSpc>
            </a:pPr>
            <a:r>
              <a:rPr lang="en-US" sz="3200"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A274C2C-523D-245F-C852-AD700AE776DC}"/>
              </a:ext>
            </a:extLst>
          </p:cNvPr>
          <p:cNvSpPr>
            <a:spLocks noGrp="1"/>
          </p:cNvSpPr>
          <p:nvPr>
            <p:ph idx="1"/>
          </p:nvPr>
        </p:nvSpPr>
        <p:spPr/>
        <p:txBody>
          <a:bodyPr>
            <a:normAutofit fontScale="70000" lnSpcReduction="20000"/>
          </a:bodyPr>
          <a:lstStyle/>
          <a:p>
            <a:pPr marR="6985" lvl="0" algn="just" fontAlgn="base">
              <a:lnSpc>
                <a:spcPct val="170000"/>
              </a:lnSpc>
              <a:spcAft>
                <a:spcPts val="45"/>
              </a:spcAft>
              <a:buClr>
                <a:srgbClr val="000000"/>
              </a:buClr>
              <a:buSzPts val="900"/>
            </a:pP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Pelau, C.; Dabija, D.C.; Ene, I. What Makes an AI Device Human-like? The Role of Interaction Quality, Empathy and Perceived Psychological Anthropomorphic Characteristics in the Acceptance of Artificial Intelligence in the Service Industry. </a:t>
            </a:r>
            <a:r>
              <a:rPr lang="en-IN" sz="1500" i="1"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Comput</a:t>
            </a:r>
            <a:r>
              <a:rPr lang="en-IN" sz="15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Hum. </a:t>
            </a:r>
            <a:r>
              <a:rPr lang="en-IN" sz="1500" i="1"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Behav</a:t>
            </a:r>
            <a:r>
              <a:rPr lang="en-IN" sz="15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500" b="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2021</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5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122</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106855. [</a:t>
            </a:r>
            <a:r>
              <a:rPr lang="en-IN" sz="1500" u="none" strike="noStrike" kern="100" dirty="0" err="1">
                <a:solidFill>
                  <a:srgbClr val="0875B7"/>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2"/>
              </a:rPr>
              <a:t>CrossRef</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2"/>
              </a:rPr>
              <a:t>]</a:t>
            </a:r>
            <a:endPar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endParaRPr>
          </a:p>
          <a:p>
            <a:pPr marR="6985" lvl="0" algn="just" fontAlgn="base">
              <a:lnSpc>
                <a:spcPct val="170000"/>
              </a:lnSpc>
              <a:spcAft>
                <a:spcPts val="45"/>
              </a:spcAft>
              <a:buClr>
                <a:srgbClr val="000000"/>
              </a:buClr>
              <a:buSzPts val="900"/>
            </a:pP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Dibitonto</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M.;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Leszczynska</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K.;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Tazzi</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F.; Medaglia, C.M. Chatbot in a Campus Environment: Design of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LiSA</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 Virtual Assistant to Help Students in Their University Life. In </a:t>
            </a:r>
            <a:r>
              <a:rPr lang="en-IN" sz="15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Proceedings of the Human-Computer Interaction</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Interaction Technologies; Kurosu, M., Ed.; Springer: Cham, Switzerland, 2018; pp. 103–116.</a:t>
            </a:r>
          </a:p>
          <a:p>
            <a:pPr marR="6985" lvl="0" algn="just" fontAlgn="base">
              <a:lnSpc>
                <a:spcPct val="170000"/>
              </a:lnSpc>
              <a:spcAft>
                <a:spcPts val="45"/>
              </a:spcAft>
              <a:buClr>
                <a:srgbClr val="000000"/>
              </a:buClr>
              <a:buSzPts val="900"/>
            </a:pP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Arteaga, D.; Arenas, J.J.; Paz, F.;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Tupia</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M.;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Bruzza</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M. Design of Information System Architecture for the Recommendation of Tourist Sites in the City of Manta, Ecuador through a Chatbot. In Proceedings of the 2019 14th Iberian Conference on Information Systems and Technologies (CISTI), Coimbra, Portugal, 19–22 June 2019; pp. 1–6.</a:t>
            </a:r>
          </a:p>
          <a:p>
            <a:pPr marR="6985" lvl="0" algn="just" fontAlgn="base">
              <a:lnSpc>
                <a:spcPct val="170000"/>
              </a:lnSpc>
              <a:spcAft>
                <a:spcPts val="45"/>
              </a:spcAft>
              <a:buClr>
                <a:srgbClr val="000000"/>
              </a:buClr>
              <a:buSzPts val="900"/>
            </a:pP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Falala-</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Séchet</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C.; Antoine, L.;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Thiriez</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I.;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Bungener</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C.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Owlie</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 Chatbot that Provides Emotional Support for Coping with Psychological Difficulties. In Proceedings of the 19th ACM International Conference on Intelligent Virtual Agents, Paris, France, 2–5 July 2019.</a:t>
            </a:r>
          </a:p>
          <a:p>
            <a:pPr marR="6985" lvl="0" algn="just" fontAlgn="base">
              <a:lnSpc>
                <a:spcPct val="170000"/>
              </a:lnSpc>
              <a:spcAft>
                <a:spcPts val="45"/>
              </a:spcAft>
              <a:buClr>
                <a:srgbClr val="000000"/>
              </a:buClr>
              <a:buSzPts val="900"/>
            </a:pP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Adiwardana</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D.; Luong, M.T.; So, D.R.; Hall, J.;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Fiedel</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N.;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Thoppilan</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R.; Yang, Z.; Kulshreshtha, A.;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Nemade</a:t>
            </a:r>
            <a:r>
              <a:rPr lang="en-IN" sz="15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G.; Lu, Y.; et </a:t>
            </a:r>
            <a:r>
              <a:rPr lang="en-IN" sz="15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al.</a:t>
            </a:r>
            <a:r>
              <a:rPr lang="en-IN" sz="15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Towards</a:t>
            </a:r>
            <a:r>
              <a:rPr lang="en-IN" sz="15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 Human-like Open-Domain Chatbot. </a:t>
            </a:r>
            <a:r>
              <a:rPr lang="en-IN" sz="1500" i="1"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arXiv</a:t>
            </a:r>
            <a:r>
              <a:rPr lang="en-IN" sz="15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5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2020</a:t>
            </a:r>
            <a:r>
              <a:rPr lang="en-IN" sz="15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arXiv:2001.09977</a:t>
            </a:r>
            <a:r>
              <a:rPr lang="en-IN" sz="1800" kern="100" dirty="0">
                <a:solidFill>
                  <a:srgbClr val="000000"/>
                </a:solidFill>
                <a:effectLst/>
                <a:latin typeface="Calibri" panose="020F0502020204030204" pitchFamily="34" charset="0"/>
                <a:ea typeface="Calibri" panose="020F0502020204030204" pitchFamily="34" charset="0"/>
              </a:rPr>
              <a:t>.</a:t>
            </a:r>
          </a:p>
        </p:txBody>
      </p:sp>
    </p:spTree>
    <p:extLst>
      <p:ext uri="{BB962C8B-B14F-4D97-AF65-F5344CB8AC3E}">
        <p14:creationId xmlns:p14="http://schemas.microsoft.com/office/powerpoint/2010/main" val="1383155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B00CD1-7D35-8B21-FCA6-6A046A42CC75}"/>
              </a:ext>
            </a:extLst>
          </p:cNvPr>
          <p:cNvSpPr>
            <a:spLocks noGrp="1"/>
          </p:cNvSpPr>
          <p:nvPr>
            <p:ph idx="1"/>
          </p:nvPr>
        </p:nvSpPr>
        <p:spPr>
          <a:xfrm>
            <a:off x="707923" y="471948"/>
            <a:ext cx="10215716" cy="5708189"/>
          </a:xfrm>
        </p:spPr>
        <p:txBody>
          <a:bodyPr>
            <a:normAutofit/>
          </a:bodyPr>
          <a:lstStyle/>
          <a:p>
            <a:pPr marR="6985" lvl="0" algn="just" fontAlgn="base">
              <a:lnSpc>
                <a:spcPct val="150000"/>
              </a:lnSpc>
              <a:spcAft>
                <a:spcPts val="45"/>
              </a:spcAft>
              <a:buClr>
                <a:srgbClr val="000000"/>
              </a:buClr>
              <a:buSzPts val="900"/>
            </a:pP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Schaaff, K.; Reinig, C.; Schlippe, T. Exploring ChatGPT’s Empathic Abilities. </a:t>
            </a:r>
            <a:r>
              <a:rPr lang="en-IN" sz="1200" i="1"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arXiv</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200" b="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2023</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arXiv:2308.03527.</a:t>
            </a:r>
          </a:p>
          <a:p>
            <a:pPr marR="6985" lvl="0" algn="just" fontAlgn="base">
              <a:lnSpc>
                <a:spcPct val="150000"/>
              </a:lnSpc>
              <a:spcAft>
                <a:spcPts val="45"/>
              </a:spcAft>
              <a:buClr>
                <a:srgbClr val="000000"/>
              </a:buClr>
              <a:buSzPts val="900"/>
            </a:pPr>
            <a:r>
              <a:rPr lang="en-IN" sz="12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Taecharungroj</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V. “What Can ChatGPT Do?” </a:t>
            </a:r>
            <a:r>
              <a:rPr lang="en-IN" sz="12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Analyzing</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Early Reactions to the Innovative AI Chatbot on Twitter. </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Big Data </a:t>
            </a:r>
            <a:r>
              <a:rPr lang="en-IN" sz="1200" i="1"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Cogn</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200" i="1"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Comput</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200" b="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2023</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7</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35. [</a:t>
            </a:r>
            <a:r>
              <a:rPr lang="en-IN" sz="1200" u="none" strike="noStrike" kern="100" dirty="0" err="1">
                <a:solidFill>
                  <a:srgbClr val="0875B7"/>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2"/>
              </a:rPr>
              <a:t>CrossRef</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2"/>
              </a:rPr>
              <a:t>]</a:t>
            </a:r>
            <a:endPar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endParaRPr>
          </a:p>
          <a:p>
            <a:pPr marR="6985" lvl="0" algn="just" fontAlgn="base">
              <a:lnSpc>
                <a:spcPct val="150000"/>
              </a:lnSpc>
              <a:spcAft>
                <a:spcPts val="45"/>
              </a:spcAft>
              <a:buClr>
                <a:srgbClr val="000000"/>
              </a:buClr>
              <a:buSzPts val="900"/>
            </a:pP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Loh, E. ChatGPT and Generative AI Chatbots: Challenges and Opportunities for Science, Medicine and Medical Leaders. </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BMJ Lead. </a:t>
            </a:r>
            <a:r>
              <a:rPr lang="en-IN" sz="1200" b="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2023</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200" u="none" strike="noStrike" kern="100" dirty="0" err="1">
                <a:solidFill>
                  <a:srgbClr val="0875B7"/>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3"/>
              </a:rPr>
              <a:t>CrossRef</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3"/>
              </a:rPr>
              <a:t>]</a:t>
            </a:r>
            <a:endPar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endParaRPr>
          </a:p>
          <a:p>
            <a:pPr marR="6985" lvl="0" algn="just" fontAlgn="base">
              <a:lnSpc>
                <a:spcPct val="150000"/>
              </a:lnSpc>
              <a:spcAft>
                <a:spcPts val="45"/>
              </a:spcAft>
              <a:buClr>
                <a:srgbClr val="000000"/>
              </a:buClr>
              <a:buSzPts val="900"/>
            </a:pP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Mollick, E. ChatGPT Is a Tipping Point for AI. </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Harvard Business Review</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14 December 2022.</a:t>
            </a:r>
          </a:p>
          <a:p>
            <a:pPr marR="6985" lvl="0" algn="just" fontAlgn="base">
              <a:lnSpc>
                <a:spcPct val="150000"/>
              </a:lnSpc>
              <a:spcAft>
                <a:spcPts val="45"/>
              </a:spcAft>
              <a:buClr>
                <a:srgbClr val="000000"/>
              </a:buClr>
              <a:buSzPts val="900"/>
            </a:pPr>
            <a:r>
              <a:rPr lang="en-IN" sz="12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Alizadehsani</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Z.; Gomez, E.G.; Ghaemi, H.; González, S.R.; Jordan, J.; Fernández, A.; Pérez-</a:t>
            </a:r>
            <a:r>
              <a:rPr lang="en-IN" sz="1200"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Lancho</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B. Modern Integrated Development Environment (IDEs). In Proceedings of the Sustainable Smart Cities and Territories, Doha, Qatar, 27–29 April 2021; Corchado, J.M., Trabelsi, S., Eds.; Springer: Cham, Switzerland, 2022; pp. 274–288.</a:t>
            </a:r>
          </a:p>
          <a:p>
            <a:pPr marR="6985" lvl="0" algn="just" fontAlgn="base">
              <a:lnSpc>
                <a:spcPct val="150000"/>
              </a:lnSpc>
              <a:spcAft>
                <a:spcPts val="45"/>
              </a:spcAft>
              <a:buClr>
                <a:srgbClr val="000000"/>
              </a:buClr>
              <a:buSzPts val="900"/>
            </a:pP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Kaur, A.; Jadhav, A.; Kaur, M.; Akter, F. Evolution of Software Development Effort and Cost Estimation Techniques: Five Decades Study Using Automated Text Mining Approach. </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Math. </a:t>
            </a:r>
            <a:r>
              <a:rPr lang="en-IN" sz="1200" i="1"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Probl</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Eng. </a:t>
            </a:r>
            <a:r>
              <a:rPr lang="en-IN" sz="1200" b="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2022</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2022</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5782587. [</a:t>
            </a:r>
            <a:r>
              <a:rPr lang="en-IN" sz="1200" u="none" strike="noStrike" kern="100" dirty="0" err="1">
                <a:solidFill>
                  <a:srgbClr val="0875B7"/>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4"/>
              </a:rPr>
              <a:t>CrossRef</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4"/>
              </a:rPr>
              <a:t>]</a:t>
            </a:r>
            <a:endPar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endParaRPr>
          </a:p>
          <a:p>
            <a:pPr marR="6985" lvl="0" algn="just" fontAlgn="base">
              <a:lnSpc>
                <a:spcPct val="150000"/>
              </a:lnSpc>
              <a:spcAft>
                <a:spcPts val="45"/>
              </a:spcAft>
              <a:buClr>
                <a:srgbClr val="000000"/>
              </a:buClr>
              <a:buSzPts val="900"/>
            </a:pP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Bluemke, I.; Malanowska, A. Software Testing Effort Estimation and Related Problems: A Systematic Literature Review. </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ACM </a:t>
            </a:r>
            <a:r>
              <a:rPr lang="en-IN" sz="1200" i="1"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Comput</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200" i="1" u="none" strike="noStrike" kern="100" dirty="0" err="1">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Surv</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200" b="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2021</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a:t>
            </a:r>
            <a:r>
              <a:rPr lang="en-IN" sz="1200" i="1"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54</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rPr>
              <a:t>, 1–38. [</a:t>
            </a:r>
            <a:r>
              <a:rPr lang="en-IN" sz="1200" u="none" strike="noStrike" kern="100" dirty="0" err="1">
                <a:solidFill>
                  <a:srgbClr val="0875B7"/>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5"/>
              </a:rPr>
              <a:t>CrossRef</a:t>
            </a:r>
            <a:r>
              <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hlinkClick r:id="rId5"/>
              </a:rPr>
              <a:t>]</a:t>
            </a:r>
            <a:endParaRPr lang="en-IN" sz="1200" u="none" strike="noStrike" kern="100" dirty="0">
              <a:solidFill>
                <a:srgbClr val="000000"/>
              </a:solidFill>
              <a:effectLst/>
              <a:uFill>
                <a:solidFill>
                  <a:srgbClr val="000000"/>
                </a:solidFill>
              </a:uFill>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65306181"/>
      </p:ext>
    </p:extLst>
  </p:cSld>
  <p:clrMapOvr>
    <a:masterClrMapping/>
  </p:clrMapOvr>
</p:sld>
</file>

<file path=ppt/theme/theme1.xml><?xml version="1.0" encoding="utf-8"?>
<a:theme xmlns:a="http://schemas.openxmlformats.org/drawingml/2006/main" name="View">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742</TotalTime>
  <Words>3660</Words>
  <Application>Microsoft Office PowerPoint</Application>
  <PresentationFormat>Widescreen</PresentationFormat>
  <Paragraphs>150</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Century Schoolbook</vt:lpstr>
      <vt:lpstr>Times New Roman</vt:lpstr>
      <vt:lpstr>Wingdings 2</vt:lpstr>
      <vt:lpstr>View</vt:lpstr>
      <vt:lpstr>AI-Powered Interview Preparation Portal with Code Execution Feature</vt:lpstr>
      <vt:lpstr>CONTENTS</vt:lpstr>
      <vt:lpstr>ABSTRACT</vt:lpstr>
      <vt:lpstr>INTRODUCTION</vt:lpstr>
      <vt:lpstr>LITERATURE SURVEY</vt:lpstr>
      <vt:lpstr>PowerPoint Presentation</vt:lpstr>
      <vt:lpstr>ALGORITHMS</vt:lpstr>
      <vt:lpstr>ALGORITHMS</vt:lpstr>
      <vt:lpstr>OBJECTIVE</vt:lpstr>
      <vt:lpstr>EXISTING SYSTEM</vt:lpstr>
      <vt:lpstr>PROPOSED SYSTEM</vt:lpstr>
      <vt:lpstr>ARCHITECTURE</vt:lpstr>
      <vt:lpstr>FLOW CHART</vt:lpstr>
      <vt:lpstr>PowerPoint Presentation</vt:lpstr>
      <vt:lpstr>LOGIN PAGE</vt:lpstr>
      <vt:lpstr>PowerPoint Presentation</vt:lpstr>
      <vt:lpstr>RESULT</vt:lpstr>
      <vt:lpstr>RESULT</vt:lpstr>
      <vt:lpstr>RESULT</vt:lpstr>
      <vt:lpstr>RESULTS</vt:lpstr>
      <vt:lpstr>RESULTS</vt:lpstr>
      <vt:lpstr>CONCLUSION</vt:lpstr>
      <vt:lpstr>FUTURE SCOPE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BHARGAVI N</dc:creator>
  <cp:lastModifiedBy>Adithya Vardhan</cp:lastModifiedBy>
  <cp:revision>11</cp:revision>
  <dcterms:created xsi:type="dcterms:W3CDTF">2025-02-13T05:30:54Z</dcterms:created>
  <dcterms:modified xsi:type="dcterms:W3CDTF">2026-02-06T07:42:09Z</dcterms:modified>
</cp:coreProperties>
</file>